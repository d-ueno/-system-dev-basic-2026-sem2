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こんにちは。この授業『システム開発（基礎）』を担当する上野です。今日は初回なので、授業の全体像の説明、演習環境の準備、そして最初のワークまで進めます。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授業のゴールは3つです。1つめ、各工程で何をして何を成果物として残すかを自分の言葉で説明できること。2つめ、基本的な設計書を自分の手で書けること。3つめ、アジャイル型開発の考え方と、ウォーターフォール型との使い分けを説明でき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毎回の流れは、前回範囲の小テスト10分、講義30分、ハンズオン40分、共有とまとめ10分です。小テストは次回から始まります。評価は小テスト40%、毎回の提出物40%、出席20%。資料と提出はすべてGoogle Classroomで行います。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授業では架空の案件をひとつ最後まで作り上げます。題材は学食モバイル注文システム。昼休みは40分なのに、ピーク時はレジに最大15分並ぶ。売り切れや作りすぎも起きている。これをシステムで解決します。詳しい話は第3回で。ここから環境セットアップに移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環境の準備お疲れさまでした。質問です。今朝起きてからこの教室に座るまでに、何回ソフトウェアのお世話になりましたか。隣の人と30秒で数えてください。（2〜3名指名し板書：アラーム、天気アプリ、改札、電子マネー、信号、エレベーター）スマホだけでなく改札も信号もエレベーターも裏でソフトウェアが動いています。この授業は社会の裏側がどう作られているかを学ぶ授業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ちなみに私の場合を数えてみました。家でスマホ、電波時計、給湯器、ウォシュレット、冷蔵庫、テレビ。移動中に車、信号機、ワイヤレスイヤホン。学校に着いてからは2号館のセキュリティロック、自動ドア、PC、モニター、給湯ポット、感知式の手洗い場、そしてこのプロジェクター。合わせて16個です。皆さんが挙げてくれたものと比べてどうでしょう。画面がない冷蔵庫や給湯器、手洗い場の中でも、ソフトウェアが動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ソフトウェアエンジニアリングと聞いて何を思い浮かべますか。（指名。「プログラミングの技術」を拾う）それも一部ですが、もっと広い意味があります。コンピュータは装置そのもののハードウェアと、その上で動くソフトウェアでできています。ソフトウェアを入れ替えれば同じ1台がワープロにもゲーム機にもなる。ソフトウェアが使い道を広げてきたんです。（p.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ソフトウェアが大きく複雑になるにつれて、品質が落ちる、生産性が上がらないという問題が深刻になりました。これをソフトウェア危機と呼びます。そこで生まれたのが、プログラム開発を工学としてとらえ、早く安く正確に、しかも誰でも作れるようにしようという学問、ソフトウェアエンジニアリングです。教科書には牛丼屋の「早い・安い・うまい」とそっくりだという例えがあります。1日1万食を100人で毎日同じ味で出すなら、レシピと分担と検品が要りますよね。（p.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年表を順に。1968年、ドイツのガルミッシュの会議がソフトウェアエンジニアリングの始まりとされます。当時のOS/360はすでに約100万行。1970年代は構造化：順次・分岐・反復で書き、goto乱用のスパゲティプログラムをなくす。1980年代は管理技術：人・予算・品質の管理、プロトタイピングやレビュー。1990年代以降はオブジェクト指向：ノック式ボールペンのように状態と動作を持つ部品で組み立てる。UMLもここから。現在はアジャイル。用語は覚えなくて大丈夫。持ち帰ってほしいのは一言、大きなものを大勢で作るには決まったやり方が要る、です。（余裕があれば：今のWindowsは約5000万行と言わ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グラムを作るだけではだめなのでしょうか。家で考えます。運んできた木材をイメージだけで切っていきなり釘を打つ大工さんはいません。必ず先に設計があって、設計図どおりに組み立てます。システム開発も同じで、プログラミングは現場の建築作業にあたります。その前に設計図が要る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設計図を作る作業は2段階。分析は「何を作るのか」を明らかにすること。顧客の要望や今の業務を調べ、必要な機能を整理します。設計は「どのように作るのか」を明らかにすること。教科書の図1.1ではチケット発行業務を例に、業務手順書→システム要件→設計書と流れています。分析と設計は車の両輪で、どちらが欠けても顧客が満足するシステムになりません。（余裕があれば：車のネジの数をいきなり決めるのは無理。ボディ・エンジンと分け、さらに分けていけば最後にネジが決まる。このあとのワークの「分解」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ソフトウェアを作る工程を開発プロセスと呼びます。一般的には4つ。要求定義・要件定義で要件定義書、設計で設計書、製造でプログラム、テストでテストの記録。前の2つが上流工程、後ろの2つが下流工程です。大事なことを1つだけ。各工程の最後には必ず成果物ができ、それが次の工程の材料になる。成果物は書類仕事のための書類ではなく、次の人へ仕事を渡すバトンです。バトンが曖昧だと次の人は迷い、どこかで作り直しが起きます。（p.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がこの授業15回の地図です。今日学んだ工程が、左上から順に並んでいます。何を作るか決める、どう作るか決める、作る。そこから右上へ、ちゃんとできたかを確かめる。15回後、皆さんの手元にはこの地図のすべての箱に対応する、自分で書いた成果物が揃います。毎回この地図に戻って、今どこにいるかを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地図の入口に立ってみましょう。そもそもシステムは何でできているのか。身近なシステムを1つ選んで4つの視点で分解します。記入例は自動販売機。ポイントは2つ。「処理」は想像で構いません。分からなくて当然です。そして一番自信がない「処理」の付箋に★を付けてください。発表で使います。では30分、始め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今日、★が付いた付箋がたくさんありましたね。中身が分からない。だからこそ、作る前に中身を書き出して、人に正しく伝える必要がある。それが設計書です。今日の分解は分析の第一歩でした。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宿題は予習だけです。教科書 p.021〜056、第1章の04節「代表的な開発モデル」と第2章を読んできてください。次回は開発の進め方の種類と、処理を人に正しく伝えるための図の書き方を学びます。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回の最初の10分で小テストをします。5問、選択式と記述式です。復習のポイントは4つ。なぜ工学が必要になったのか。分析と設計の順番と役割。各工程で作るものの呼び方と、それを作る目的。最後の1つは予習範囲から、ウォーターフォール型の進め方です。今日のスライドと教科書の該当ページを見直しておい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23647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7A2E36"/>
                </a:solidFill>
                <a:latin typeface="Noto Sans JP" pitchFamily="34" charset="0"/>
                <a:ea typeface="Noto Sans JP" pitchFamily="34" charset="-122"/>
                <a:cs typeface="Noto Sans JP" pitchFamily="34" charset="-120"/>
              </a:rPr>
              <a:t>システム開発（基礎）　第1回</a:t>
            </a:r>
            <a:endParaRPr lang="en-US" sz="1400" dirty="0"/>
          </a:p>
        </p:txBody>
      </p:sp>
      <p:sp>
        <p:nvSpPr>
          <p:cNvPr id="3" name="Text 1"/>
          <p:cNvSpPr/>
          <p:nvPr/>
        </p:nvSpPr>
        <p:spPr>
          <a:xfrm>
            <a:off x="812800" y="2816860"/>
            <a:ext cx="10883392" cy="787400"/>
          </a:xfrm>
          <a:prstGeom prst="rect">
            <a:avLst/>
          </a:prstGeom>
          <a:noFill/>
          <a:ln/>
        </p:spPr>
        <p:txBody>
          <a:bodyPr wrap="square" lIns="0" tIns="0" rIns="0" bIns="0" rtlCol="0" anchor="t">
            <a:normAutofit/>
          </a:bodyPr>
          <a:lstStyle/>
          <a:p>
            <a:pPr algn="l" indent="0" marL="0">
              <a:lnSpc>
                <a:spcPts val="6000"/>
              </a:lnSpc>
              <a:buNone/>
            </a:pPr>
            <a:r>
              <a:rPr lang="en-US" sz="4800" b="1" dirty="0">
                <a:solidFill>
                  <a:srgbClr val="1F2A37"/>
                </a:solidFill>
                <a:latin typeface="Noto Serif JP" pitchFamily="34" charset="0"/>
                <a:ea typeface="Noto Serif JP" pitchFamily="34" charset="-122"/>
                <a:cs typeface="Noto Serif JP" pitchFamily="34" charset="-120"/>
              </a:rPr>
              <a:t>ソフトウェア開発とは何か</a:t>
            </a:r>
            <a:endParaRPr lang="en-US" sz="4800" dirty="0"/>
          </a:p>
        </p:txBody>
      </p:sp>
      <p:pic>
        <p:nvPicPr>
          <p:cNvPr id="4" name="Image 0" descr="line">    </p:cNvPr>
          <p:cNvPicPr>
            <a:picLocks noChangeAspect="1"/>
          </p:cNvPicPr>
          <p:nvPr/>
        </p:nvPicPr>
        <p:blipFill>
          <a:blip r:embed="rId1"/>
          <a:srcRect l="0" r="0" t="-3333" b="-3333"/>
          <a:stretch/>
        </p:blipFill>
        <p:spPr>
          <a:xfrm>
            <a:off x="812800" y="3782060"/>
            <a:ext cx="1016000" cy="20320"/>
          </a:xfrm>
          <a:prstGeom prst="rect">
            <a:avLst/>
          </a:prstGeom>
        </p:spPr>
      </p:pic>
      <p:sp>
        <p:nvSpPr>
          <p:cNvPr id="5" name="Text 2"/>
          <p:cNvSpPr/>
          <p:nvPr/>
        </p:nvSpPr>
        <p:spPr>
          <a:xfrm>
            <a:off x="812800" y="400558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Noto Sans JP" pitchFamily="34" charset="0"/>
                <a:ea typeface="Noto Sans JP" pitchFamily="34" charset="-122"/>
                <a:cs typeface="Noto Sans JP" pitchFamily="34" charset="-120"/>
              </a:rPr>
              <a:t>ガイダンス／工程と成果物という見方</a:t>
            </a:r>
            <a:endParaRPr lang="en-US" sz="1600" dirty="0"/>
          </a:p>
        </p:txBody>
      </p:sp>
      <p:sp>
        <p:nvSpPr>
          <p:cNvPr id="6" name="Text 3"/>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担当：上野 淳　｜　水戸デジタル専門カレッジ　デジタルイノベーション学科</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E36"/>
                </a:solidFill>
                <a:latin typeface="Noto Sans JP" pitchFamily="34" charset="0"/>
                <a:ea typeface="Noto Sans JP" pitchFamily="34" charset="-122"/>
                <a:cs typeface="Noto Sans JP" pitchFamily="34" charset="-120"/>
              </a:rPr>
              <a:t>この授業の到達目標</a:t>
            </a:r>
            <a:endParaRPr lang="en-US" sz="1200" dirty="0"/>
          </a:p>
        </p:txBody>
      </p:sp>
      <p:sp>
        <p:nvSpPr>
          <p:cNvPr id="3" name="Text 1"/>
          <p:cNvSpPr/>
          <p:nvPr/>
        </p:nvSpPr>
        <p:spPr>
          <a:xfrm>
            <a:off x="812800" y="110236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37"/>
                </a:solidFill>
                <a:latin typeface="Noto Serif JP" pitchFamily="34" charset="0"/>
                <a:ea typeface="Noto Serif JP" pitchFamily="34" charset="-122"/>
                <a:cs typeface="Noto Serif JP" pitchFamily="34" charset="-120"/>
              </a:rPr>
              <a:t>15回後、できるようになること</a:t>
            </a:r>
            <a:endParaRPr lang="en-US" sz="3200" dirty="0"/>
          </a:p>
        </p:txBody>
      </p:sp>
      <p:sp>
        <p:nvSpPr>
          <p:cNvPr id="4" name="Shape 2"/>
          <p:cNvSpPr/>
          <p:nvPr/>
        </p:nvSpPr>
        <p:spPr>
          <a:xfrm>
            <a:off x="812800" y="1928495"/>
            <a:ext cx="10566400" cy="0"/>
          </a:xfrm>
          <a:prstGeom prst="line">
            <a:avLst/>
          </a:prstGeom>
          <a:noFill/>
          <a:ln w="6350">
            <a:solidFill>
              <a:srgbClr val="D6D3CC"/>
            </a:solidFill>
            <a:prstDash val="solid"/>
          </a:ln>
        </p:spPr>
      </p:sp>
      <p:sp>
        <p:nvSpPr>
          <p:cNvPr id="5" name="Text 3"/>
          <p:cNvSpPr/>
          <p:nvPr/>
        </p:nvSpPr>
        <p:spPr>
          <a:xfrm>
            <a:off x="812800" y="2133600"/>
            <a:ext cx="55880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7A2E36"/>
                </a:solidFill>
                <a:latin typeface="Noto Serif JP" pitchFamily="34" charset="0"/>
                <a:ea typeface="Noto Serif JP" pitchFamily="34" charset="-122"/>
                <a:cs typeface="Noto Serif JP" pitchFamily="34" charset="-120"/>
              </a:rPr>
              <a:t>1</a:t>
            </a:r>
            <a:endParaRPr lang="en-US" sz="2200" dirty="0"/>
          </a:p>
        </p:txBody>
      </p:sp>
      <p:sp>
        <p:nvSpPr>
          <p:cNvPr id="6" name="Text 4"/>
          <p:cNvSpPr/>
          <p:nvPr/>
        </p:nvSpPr>
        <p:spPr>
          <a:xfrm>
            <a:off x="1625600" y="2179320"/>
            <a:ext cx="7993800" cy="368300"/>
          </a:xfrm>
          <a:prstGeom prst="rect">
            <a:avLst/>
          </a:prstGeom>
          <a:noFill/>
          <a:ln/>
        </p:spPr>
        <p:txBody>
          <a:bodyPr wrap="square" lIns="0" tIns="0" rIns="0" bIns="0" rtlCol="0" anchor="t">
            <a:normAutofit/>
          </a:bodyPr>
          <a:lstStyle/>
          <a:p>
            <a:pPr algn="l" indent="0" marL="0">
              <a:lnSpc>
                <a:spcPts val="2700"/>
              </a:lnSpc>
              <a:buNone/>
            </a:pPr>
            <a:r>
              <a:rPr lang="en-US" sz="1800" dirty="0">
                <a:solidFill>
                  <a:srgbClr val="1F2A37"/>
                </a:solidFill>
                <a:latin typeface="Noto Sans JP" pitchFamily="34" charset="0"/>
                <a:ea typeface="Noto Sans JP" pitchFamily="34" charset="-122"/>
                <a:cs typeface="Noto Sans JP" pitchFamily="34" charset="-120"/>
              </a:rPr>
              <a:t>各工程で「何を行い、何を成果物として残すか」を自分の言葉で説明できる</a:t>
            </a:r>
            <a:endParaRPr lang="en-US" sz="1800" dirty="0"/>
          </a:p>
        </p:txBody>
      </p:sp>
      <p:sp>
        <p:nvSpPr>
          <p:cNvPr id="7" name="Shape 5"/>
          <p:cNvSpPr/>
          <p:nvPr/>
        </p:nvSpPr>
        <p:spPr>
          <a:xfrm>
            <a:off x="812800" y="2731135"/>
            <a:ext cx="10566400" cy="0"/>
          </a:xfrm>
          <a:prstGeom prst="line">
            <a:avLst/>
          </a:prstGeom>
          <a:noFill/>
          <a:ln w="6350">
            <a:solidFill>
              <a:srgbClr val="D6D3CC"/>
            </a:solidFill>
            <a:prstDash val="solid"/>
          </a:ln>
        </p:spPr>
      </p:sp>
      <p:sp>
        <p:nvSpPr>
          <p:cNvPr id="8" name="Text 6"/>
          <p:cNvSpPr/>
          <p:nvPr/>
        </p:nvSpPr>
        <p:spPr>
          <a:xfrm>
            <a:off x="812800" y="2936240"/>
            <a:ext cx="55880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7A2E36"/>
                </a:solidFill>
                <a:latin typeface="Noto Serif JP" pitchFamily="34" charset="0"/>
                <a:ea typeface="Noto Serif JP" pitchFamily="34" charset="-122"/>
                <a:cs typeface="Noto Serif JP" pitchFamily="34" charset="-120"/>
              </a:rPr>
              <a:t>2</a:t>
            </a:r>
            <a:endParaRPr lang="en-US" sz="2200" dirty="0"/>
          </a:p>
        </p:txBody>
      </p:sp>
      <p:sp>
        <p:nvSpPr>
          <p:cNvPr id="9" name="Text 7"/>
          <p:cNvSpPr/>
          <p:nvPr/>
        </p:nvSpPr>
        <p:spPr>
          <a:xfrm>
            <a:off x="1625600" y="2981960"/>
            <a:ext cx="8236370" cy="368300"/>
          </a:xfrm>
          <a:prstGeom prst="rect">
            <a:avLst/>
          </a:prstGeom>
          <a:noFill/>
          <a:ln/>
        </p:spPr>
        <p:txBody>
          <a:bodyPr wrap="square" lIns="0" tIns="0" rIns="0" bIns="0" rtlCol="0" anchor="t">
            <a:normAutofit/>
          </a:bodyPr>
          <a:lstStyle/>
          <a:p>
            <a:pPr algn="l" indent="0" marL="0">
              <a:lnSpc>
                <a:spcPts val="2700"/>
              </a:lnSpc>
              <a:buNone/>
            </a:pPr>
            <a:r>
              <a:rPr lang="en-US" sz="1800" dirty="0">
                <a:solidFill>
                  <a:srgbClr val="1F2A37"/>
                </a:solidFill>
                <a:latin typeface="Noto Sans JP" pitchFamily="34" charset="0"/>
                <a:ea typeface="Noto Sans JP" pitchFamily="34" charset="-122"/>
                <a:cs typeface="Noto Sans JP" pitchFamily="34" charset="-120"/>
              </a:rPr>
              <a:t>要求定義書・要件定義書・設計書・テスト仕様書などを自分の手で作成できる</a:t>
            </a:r>
            <a:endParaRPr lang="en-US" sz="1800" dirty="0"/>
          </a:p>
        </p:txBody>
      </p:sp>
      <p:sp>
        <p:nvSpPr>
          <p:cNvPr id="10" name="Shape 8"/>
          <p:cNvSpPr/>
          <p:nvPr/>
        </p:nvSpPr>
        <p:spPr>
          <a:xfrm>
            <a:off x="812800" y="3533775"/>
            <a:ext cx="10566400" cy="0"/>
          </a:xfrm>
          <a:prstGeom prst="line">
            <a:avLst/>
          </a:prstGeom>
          <a:noFill/>
          <a:ln w="6350">
            <a:solidFill>
              <a:srgbClr val="D6D3CC"/>
            </a:solidFill>
            <a:prstDash val="solid"/>
          </a:ln>
        </p:spPr>
      </p:sp>
      <p:sp>
        <p:nvSpPr>
          <p:cNvPr id="11" name="Shape 9"/>
          <p:cNvSpPr/>
          <p:nvPr/>
        </p:nvSpPr>
        <p:spPr>
          <a:xfrm>
            <a:off x="812800" y="4335145"/>
            <a:ext cx="10566400" cy="0"/>
          </a:xfrm>
          <a:prstGeom prst="line">
            <a:avLst/>
          </a:prstGeom>
          <a:noFill/>
          <a:ln w="6350">
            <a:solidFill>
              <a:srgbClr val="D6D3CC"/>
            </a:solidFill>
            <a:prstDash val="solid"/>
          </a:ln>
        </p:spPr>
      </p:sp>
      <p:sp>
        <p:nvSpPr>
          <p:cNvPr id="12" name="Text 10"/>
          <p:cNvSpPr/>
          <p:nvPr/>
        </p:nvSpPr>
        <p:spPr>
          <a:xfrm>
            <a:off x="812800" y="3738880"/>
            <a:ext cx="55880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7A2E36"/>
                </a:solidFill>
                <a:latin typeface="Noto Serif JP" pitchFamily="34" charset="0"/>
                <a:ea typeface="Noto Serif JP" pitchFamily="34" charset="-122"/>
                <a:cs typeface="Noto Serif JP" pitchFamily="34" charset="-120"/>
              </a:rPr>
              <a:t>3</a:t>
            </a:r>
            <a:endParaRPr lang="en-US" sz="2200" dirty="0"/>
          </a:p>
        </p:txBody>
      </p:sp>
      <p:sp>
        <p:nvSpPr>
          <p:cNvPr id="13" name="Text 11"/>
          <p:cNvSpPr/>
          <p:nvPr/>
        </p:nvSpPr>
        <p:spPr>
          <a:xfrm>
            <a:off x="1625600" y="3784600"/>
            <a:ext cx="8424736" cy="368300"/>
          </a:xfrm>
          <a:prstGeom prst="rect">
            <a:avLst/>
          </a:prstGeom>
          <a:noFill/>
          <a:ln/>
        </p:spPr>
        <p:txBody>
          <a:bodyPr wrap="square" lIns="0" tIns="0" rIns="0" bIns="0" rtlCol="0" anchor="t">
            <a:normAutofit/>
          </a:bodyPr>
          <a:lstStyle/>
          <a:p>
            <a:pPr algn="l" indent="0" marL="0">
              <a:lnSpc>
                <a:spcPts val="2700"/>
              </a:lnSpc>
              <a:buNone/>
            </a:pPr>
            <a:r>
              <a:rPr lang="en-US" sz="1800" dirty="0">
                <a:solidFill>
                  <a:srgbClr val="1F2A37"/>
                </a:solidFill>
                <a:latin typeface="Noto Sans JP" pitchFamily="34" charset="0"/>
                <a:ea typeface="Noto Sans JP" pitchFamily="34" charset="-122"/>
                <a:cs typeface="Noto Sans JP" pitchFamily="34" charset="-120"/>
              </a:rPr>
              <a:t>アジャイル型開発の考え方と、ウォーターフォール型との使い分けを説明できる</a:t>
            </a:r>
            <a:endParaRPr lang="en-US" sz="1800" dirty="0"/>
          </a:p>
        </p:txBody>
      </p:sp>
      <p:sp>
        <p:nvSpPr>
          <p:cNvPr id="14" name="Text 12"/>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システム開発（基礎）第1回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E36"/>
                </a:solidFill>
                <a:latin typeface="Noto Sans JP" pitchFamily="34" charset="0"/>
                <a:ea typeface="Noto Sans JP" pitchFamily="34" charset="-122"/>
                <a:cs typeface="Noto Sans JP" pitchFamily="34" charset="-120"/>
              </a:rPr>
              <a:t>授業の進め方と評価</a:t>
            </a:r>
            <a:endParaRPr lang="en-US" sz="1200" dirty="0"/>
          </a:p>
        </p:txBody>
      </p:sp>
      <p:sp>
        <p:nvSpPr>
          <p:cNvPr id="3" name="Text 1"/>
          <p:cNvSpPr/>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37"/>
                </a:solidFill>
                <a:latin typeface="Noto Serif JP" pitchFamily="34" charset="0"/>
                <a:ea typeface="Noto Serif JP" pitchFamily="34" charset="-122"/>
                <a:cs typeface="Noto Serif JP" pitchFamily="34" charset="-120"/>
              </a:rPr>
              <a:t>毎回、同じ90分のサイクルで進みます</a:t>
            </a:r>
            <a:endParaRPr lang="en-US" sz="3200" dirty="0"/>
          </a:p>
        </p:txBody>
      </p:sp>
      <p:sp>
        <p:nvSpPr>
          <p:cNvPr id="4" name="Shape 2"/>
          <p:cNvSpPr/>
          <p:nvPr/>
        </p:nvSpPr>
        <p:spPr>
          <a:xfrm>
            <a:off x="815975" y="1928495"/>
            <a:ext cx="10560050" cy="958850"/>
          </a:xfrm>
          <a:prstGeom prst="rect">
            <a:avLst/>
          </a:prstGeom>
          <a:noFill/>
          <a:ln w="6350">
            <a:solidFill>
              <a:srgbClr val="D6D3CC"/>
            </a:solidFill>
            <a:prstDash val="solid"/>
          </a:ln>
        </p:spPr>
      </p:sp>
      <p:sp>
        <p:nvSpPr>
          <p:cNvPr id="5" name="Shape 3"/>
          <p:cNvSpPr/>
          <p:nvPr/>
        </p:nvSpPr>
        <p:spPr>
          <a:xfrm>
            <a:off x="817880" y="1930400"/>
            <a:ext cx="1397000" cy="955040"/>
          </a:xfrm>
          <a:prstGeom prst="rect">
            <a:avLst/>
          </a:prstGeom>
          <a:solidFill>
            <a:srgbClr val="F1EFE9"/>
          </a:solidFill>
          <a:ln/>
        </p:spPr>
      </p:sp>
      <p:sp>
        <p:nvSpPr>
          <p:cNvPr id="6" name="Text 4"/>
          <p:cNvSpPr/>
          <p:nvPr/>
        </p:nvSpPr>
        <p:spPr>
          <a:xfrm>
            <a:off x="1021080" y="2133600"/>
            <a:ext cx="1041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10分</a:t>
            </a:r>
            <a:endParaRPr lang="en-US" sz="1200" dirty="0"/>
          </a:p>
        </p:txBody>
      </p:sp>
      <p:sp>
        <p:nvSpPr>
          <p:cNvPr id="7" name="Text 5"/>
          <p:cNvSpPr/>
          <p:nvPr/>
        </p:nvSpPr>
        <p:spPr>
          <a:xfrm>
            <a:off x="1021080" y="2397761"/>
            <a:ext cx="1041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Noto Sans JP" pitchFamily="34" charset="0"/>
                <a:ea typeface="Noto Sans JP" pitchFamily="34" charset="-122"/>
                <a:cs typeface="Noto Sans JP" pitchFamily="34" charset="-120"/>
              </a:rPr>
              <a:t>小テスト</a:t>
            </a:r>
            <a:endParaRPr lang="en-US" sz="1600" dirty="0"/>
          </a:p>
        </p:txBody>
      </p:sp>
      <p:sp>
        <p:nvSpPr>
          <p:cNvPr id="8" name="Shape 6"/>
          <p:cNvSpPr/>
          <p:nvPr/>
        </p:nvSpPr>
        <p:spPr>
          <a:xfrm>
            <a:off x="2218055" y="1930400"/>
            <a:ext cx="0" cy="955040"/>
          </a:xfrm>
          <a:prstGeom prst="line">
            <a:avLst/>
          </a:prstGeom>
          <a:noFill/>
          <a:ln w="6350">
            <a:solidFill>
              <a:srgbClr val="D6D3CC"/>
            </a:solidFill>
            <a:prstDash val="solid"/>
          </a:ln>
        </p:spPr>
      </p:sp>
      <p:sp>
        <p:nvSpPr>
          <p:cNvPr id="9" name="Text 7"/>
          <p:cNvSpPr/>
          <p:nvPr/>
        </p:nvSpPr>
        <p:spPr>
          <a:xfrm>
            <a:off x="2423160" y="2133600"/>
            <a:ext cx="30609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30分</a:t>
            </a:r>
            <a:endParaRPr lang="en-US" sz="1200" dirty="0"/>
          </a:p>
        </p:txBody>
      </p:sp>
      <p:sp>
        <p:nvSpPr>
          <p:cNvPr id="10" name="Text 8"/>
          <p:cNvSpPr/>
          <p:nvPr/>
        </p:nvSpPr>
        <p:spPr>
          <a:xfrm>
            <a:off x="2423160" y="2397761"/>
            <a:ext cx="306095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Noto Sans JP" pitchFamily="34" charset="0"/>
                <a:ea typeface="Noto Sans JP" pitchFamily="34" charset="-122"/>
                <a:cs typeface="Noto Sans JP" pitchFamily="34" charset="-120"/>
              </a:rPr>
              <a:t>講義</a:t>
            </a:r>
            <a:endParaRPr lang="en-US" sz="1600" dirty="0"/>
          </a:p>
        </p:txBody>
      </p:sp>
      <p:sp>
        <p:nvSpPr>
          <p:cNvPr id="11" name="Shape 9"/>
          <p:cNvSpPr/>
          <p:nvPr/>
        </p:nvSpPr>
        <p:spPr>
          <a:xfrm>
            <a:off x="5601335" y="1930400"/>
            <a:ext cx="0" cy="955040"/>
          </a:xfrm>
          <a:prstGeom prst="line">
            <a:avLst/>
          </a:prstGeom>
          <a:noFill/>
          <a:ln w="6350">
            <a:solidFill>
              <a:srgbClr val="D6D3CC"/>
            </a:solidFill>
            <a:prstDash val="solid"/>
          </a:ln>
        </p:spPr>
      </p:sp>
      <p:sp>
        <p:nvSpPr>
          <p:cNvPr id="12" name="Text 10"/>
          <p:cNvSpPr/>
          <p:nvPr/>
        </p:nvSpPr>
        <p:spPr>
          <a:xfrm>
            <a:off x="5806440" y="2133600"/>
            <a:ext cx="40812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40分</a:t>
            </a:r>
            <a:endParaRPr lang="en-US" sz="1200" dirty="0"/>
          </a:p>
        </p:txBody>
      </p:sp>
      <p:sp>
        <p:nvSpPr>
          <p:cNvPr id="13" name="Text 11"/>
          <p:cNvSpPr/>
          <p:nvPr/>
        </p:nvSpPr>
        <p:spPr>
          <a:xfrm>
            <a:off x="5806440" y="2397761"/>
            <a:ext cx="408127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Noto Sans JP" pitchFamily="34" charset="0"/>
                <a:ea typeface="Noto Sans JP" pitchFamily="34" charset="-122"/>
                <a:cs typeface="Noto Sans JP" pitchFamily="34" charset="-120"/>
              </a:rPr>
              <a:t>ハンズオン</a:t>
            </a:r>
            <a:endParaRPr lang="en-US" sz="1600" dirty="0"/>
          </a:p>
        </p:txBody>
      </p:sp>
      <p:sp>
        <p:nvSpPr>
          <p:cNvPr id="14" name="Shape 12"/>
          <p:cNvSpPr/>
          <p:nvPr/>
        </p:nvSpPr>
        <p:spPr>
          <a:xfrm>
            <a:off x="9972040" y="1930400"/>
            <a:ext cx="1402080" cy="955040"/>
          </a:xfrm>
          <a:prstGeom prst="rect">
            <a:avLst/>
          </a:prstGeom>
          <a:solidFill>
            <a:srgbClr val="F1EFE9"/>
          </a:solidFill>
          <a:ln/>
        </p:spPr>
      </p:sp>
      <p:sp>
        <p:nvSpPr>
          <p:cNvPr id="15" name="Shape 13"/>
          <p:cNvSpPr/>
          <p:nvPr/>
        </p:nvSpPr>
        <p:spPr>
          <a:xfrm>
            <a:off x="9975215" y="1930400"/>
            <a:ext cx="0" cy="955040"/>
          </a:xfrm>
          <a:prstGeom prst="line">
            <a:avLst/>
          </a:prstGeom>
          <a:noFill/>
          <a:ln w="6350">
            <a:solidFill>
              <a:srgbClr val="D6D3CC"/>
            </a:solidFill>
            <a:prstDash val="solid"/>
          </a:ln>
        </p:spPr>
      </p:sp>
      <p:sp>
        <p:nvSpPr>
          <p:cNvPr id="16" name="Text 14"/>
          <p:cNvSpPr/>
          <p:nvPr/>
        </p:nvSpPr>
        <p:spPr>
          <a:xfrm>
            <a:off x="10180320" y="2133600"/>
            <a:ext cx="1041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10分</a:t>
            </a:r>
            <a:endParaRPr lang="en-US" sz="1200" dirty="0"/>
          </a:p>
        </p:txBody>
      </p:sp>
      <p:sp>
        <p:nvSpPr>
          <p:cNvPr id="17" name="Text 15"/>
          <p:cNvSpPr/>
          <p:nvPr/>
        </p:nvSpPr>
        <p:spPr>
          <a:xfrm>
            <a:off x="10180320" y="2397761"/>
            <a:ext cx="10414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A37"/>
                </a:solidFill>
                <a:latin typeface="Noto Sans JP" pitchFamily="34" charset="0"/>
                <a:ea typeface="Noto Sans JP" pitchFamily="34" charset="-122"/>
                <a:cs typeface="Noto Sans JP" pitchFamily="34" charset="-120"/>
              </a:rPr>
              <a:t>共有</a:t>
            </a:r>
            <a:endParaRPr lang="en-US" sz="1600" dirty="0"/>
          </a:p>
        </p:txBody>
      </p:sp>
      <p:sp>
        <p:nvSpPr>
          <p:cNvPr id="18" name="Text 16"/>
          <p:cNvSpPr/>
          <p:nvPr/>
        </p:nvSpPr>
        <p:spPr>
          <a:xfrm>
            <a:off x="812800" y="3246120"/>
            <a:ext cx="512480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評価</a:t>
            </a:r>
            <a:endParaRPr lang="en-US" sz="1200" dirty="0"/>
          </a:p>
        </p:txBody>
      </p:sp>
      <p:sp>
        <p:nvSpPr>
          <p:cNvPr id="19" name="Text 17"/>
          <p:cNvSpPr/>
          <p:nvPr/>
        </p:nvSpPr>
        <p:spPr>
          <a:xfrm>
            <a:off x="812800" y="3561080"/>
            <a:ext cx="5124809"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Noto Sans JP" pitchFamily="34" charset="0"/>
                <a:ea typeface="Noto Sans JP" pitchFamily="34" charset="-122"/>
                <a:cs typeface="Noto Sans JP" pitchFamily="34" charset="-120"/>
              </a:rPr>
              <a:t>小テスト 40%　／　提出物 40%　／　出席 20%</a:t>
            </a:r>
            <a:endParaRPr lang="en-US" sz="1800" dirty="0"/>
          </a:p>
        </p:txBody>
      </p:sp>
      <p:sp>
        <p:nvSpPr>
          <p:cNvPr id="20" name="Text 18"/>
          <p:cNvSpPr/>
          <p:nvPr/>
        </p:nvSpPr>
        <p:spPr>
          <a:xfrm>
            <a:off x="6397942" y="3246120"/>
            <a:ext cx="1991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資料と提出</a:t>
            </a:r>
            <a:endParaRPr lang="en-US" sz="1200" dirty="0"/>
          </a:p>
        </p:txBody>
      </p:sp>
      <p:sp>
        <p:nvSpPr>
          <p:cNvPr id="21" name="Text 19"/>
          <p:cNvSpPr/>
          <p:nvPr/>
        </p:nvSpPr>
        <p:spPr>
          <a:xfrm>
            <a:off x="6397942" y="3561080"/>
            <a:ext cx="1991991"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Noto Sans JP" pitchFamily="34" charset="0"/>
                <a:ea typeface="Noto Sans JP" pitchFamily="34" charset="-122"/>
                <a:cs typeface="Noto Sans JP" pitchFamily="34" charset="-120"/>
              </a:rPr>
              <a:t>Google Classroom</a:t>
            </a:r>
            <a:endParaRPr lang="en-US" sz="1800" dirty="0"/>
          </a:p>
        </p:txBody>
      </p:sp>
      <p:sp>
        <p:nvSpPr>
          <p:cNvPr id="22" name="Text 20"/>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小テストは第2回から。出題元は前回範囲の章末演習です。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F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E36"/>
                </a:solidFill>
                <a:latin typeface="Noto Sans JP" pitchFamily="34" charset="0"/>
                <a:ea typeface="Noto Sans JP" pitchFamily="34" charset="-122"/>
                <a:cs typeface="Noto Sans JP" pitchFamily="34" charset="-120"/>
              </a:rPr>
              <a:t>この授業の題材</a:t>
            </a:r>
            <a:endParaRPr lang="en-US" sz="1200" dirty="0"/>
          </a:p>
        </p:txBody>
      </p:sp>
      <p:sp>
        <p:nvSpPr>
          <p:cNvPr id="3" name="Text 1"/>
          <p:cNvSpPr/>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37"/>
                </a:solidFill>
                <a:latin typeface="Noto Serif JP" pitchFamily="34" charset="0"/>
                <a:ea typeface="Noto Serif JP" pitchFamily="34" charset="-122"/>
                <a:cs typeface="Noto Serif JP" pitchFamily="34" charset="-120"/>
              </a:rPr>
              <a:t>学食モバイル注文システム</a:t>
            </a:r>
            <a:endParaRPr lang="en-US" sz="3200" dirty="0"/>
          </a:p>
        </p:txBody>
      </p:sp>
      <p:sp>
        <p:nvSpPr>
          <p:cNvPr id="4" name="Text 2"/>
          <p:cNvSpPr/>
          <p:nvPr/>
        </p:nvSpPr>
        <p:spPr>
          <a:xfrm>
            <a:off x="812800" y="1925320"/>
            <a:ext cx="10883392" cy="756920"/>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4A5563"/>
                </a:solidFill>
                <a:latin typeface="Noto Sans JP" pitchFamily="34" charset="0"/>
                <a:ea typeface="Noto Sans JP" pitchFamily="34" charset="-122"/>
                <a:cs typeface="Noto Sans JP" pitchFamily="34" charset="-120"/>
              </a:rPr>
              <a:t>学食の注文をスマートフォンで事前に済ませる仕組みを、第3回から第12回まで皆さん自身の手で設計します。</a:t>
            </a:r>
            <a:endParaRPr lang="en-US" sz="1800" dirty="0"/>
          </a:p>
        </p:txBody>
      </p:sp>
      <p:sp>
        <p:nvSpPr>
          <p:cNvPr id="5" name="Shape 3"/>
          <p:cNvSpPr/>
          <p:nvPr/>
        </p:nvSpPr>
        <p:spPr>
          <a:xfrm>
            <a:off x="812800" y="3012441"/>
            <a:ext cx="3386614" cy="1463040"/>
          </a:xfrm>
          <a:prstGeom prst="rect">
            <a:avLst/>
          </a:prstGeom>
          <a:solidFill>
            <a:srgbClr val="FAF9F6"/>
          </a:solidFill>
          <a:ln/>
        </p:spPr>
      </p:sp>
      <p:sp>
        <p:nvSpPr>
          <p:cNvPr id="6" name="Shape 4"/>
          <p:cNvSpPr/>
          <p:nvPr/>
        </p:nvSpPr>
        <p:spPr>
          <a:xfrm>
            <a:off x="812800" y="3021966"/>
            <a:ext cx="3386614" cy="0"/>
          </a:xfrm>
          <a:prstGeom prst="line">
            <a:avLst/>
          </a:prstGeom>
          <a:noFill/>
          <a:ln w="19050">
            <a:solidFill>
              <a:srgbClr val="7A2E36"/>
            </a:solidFill>
            <a:prstDash val="solid"/>
          </a:ln>
        </p:spPr>
      </p:sp>
      <p:sp>
        <p:nvSpPr>
          <p:cNvPr id="7" name="Text 5"/>
          <p:cNvSpPr/>
          <p:nvPr/>
        </p:nvSpPr>
        <p:spPr>
          <a:xfrm>
            <a:off x="1066800" y="3281680"/>
            <a:ext cx="2964972"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F2A37"/>
                </a:solidFill>
                <a:latin typeface="Noto Serif JP" pitchFamily="34" charset="0"/>
                <a:ea typeface="Noto Serif JP" pitchFamily="34" charset="-122"/>
                <a:cs typeface="Noto Serif JP" pitchFamily="34" charset="-120"/>
              </a:rPr>
              <a:t>40</a:t>
            </a:r>
            <a:r>
              <a:rPr lang="en-US" sz="3600" b="1" dirty="0">
                <a:solidFill>
                  <a:srgbClr val="6B7280"/>
                </a:solidFill>
                <a:latin typeface="Noto Serif JP" pitchFamily="34" charset="0"/>
                <a:ea typeface="Noto Serif JP" pitchFamily="34" charset="-122"/>
                <a:cs typeface="Noto Serif JP" pitchFamily="34" charset="-120"/>
              </a:rPr>
              <a:t>分</a:t>
            </a:r>
            <a:endParaRPr lang="en-US" sz="3600" dirty="0"/>
          </a:p>
        </p:txBody>
      </p:sp>
      <p:sp>
        <p:nvSpPr>
          <p:cNvPr id="8" name="Text 6"/>
          <p:cNvSpPr/>
          <p:nvPr/>
        </p:nvSpPr>
        <p:spPr>
          <a:xfrm>
            <a:off x="1066800" y="3972561"/>
            <a:ext cx="296497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Noto Sans JP" pitchFamily="34" charset="0"/>
                <a:ea typeface="Noto Sans JP" pitchFamily="34" charset="-122"/>
                <a:cs typeface="Noto Sans JP" pitchFamily="34" charset="-120"/>
              </a:rPr>
              <a:t>昼休みの長さ</a:t>
            </a:r>
            <a:endParaRPr lang="en-US" sz="1400" dirty="0"/>
          </a:p>
        </p:txBody>
      </p:sp>
      <p:sp>
        <p:nvSpPr>
          <p:cNvPr id="9" name="Shape 7"/>
          <p:cNvSpPr/>
          <p:nvPr/>
        </p:nvSpPr>
        <p:spPr>
          <a:xfrm>
            <a:off x="4402614" y="3012441"/>
            <a:ext cx="3386693" cy="1463040"/>
          </a:xfrm>
          <a:prstGeom prst="rect">
            <a:avLst/>
          </a:prstGeom>
          <a:solidFill>
            <a:srgbClr val="FAF9F6"/>
          </a:solidFill>
          <a:ln/>
        </p:spPr>
      </p:sp>
      <p:sp>
        <p:nvSpPr>
          <p:cNvPr id="10" name="Shape 8"/>
          <p:cNvSpPr/>
          <p:nvPr/>
        </p:nvSpPr>
        <p:spPr>
          <a:xfrm>
            <a:off x="4402614" y="3021966"/>
            <a:ext cx="3386693" cy="0"/>
          </a:xfrm>
          <a:prstGeom prst="line">
            <a:avLst/>
          </a:prstGeom>
          <a:noFill/>
          <a:ln w="19050">
            <a:solidFill>
              <a:srgbClr val="7A2E36"/>
            </a:solidFill>
            <a:prstDash val="solid"/>
          </a:ln>
        </p:spPr>
      </p:sp>
      <p:sp>
        <p:nvSpPr>
          <p:cNvPr id="11" name="Text 9"/>
          <p:cNvSpPr/>
          <p:nvPr/>
        </p:nvSpPr>
        <p:spPr>
          <a:xfrm>
            <a:off x="4656614" y="3281680"/>
            <a:ext cx="2965054"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F2A37"/>
                </a:solidFill>
                <a:latin typeface="Noto Serif JP" pitchFamily="34" charset="0"/>
                <a:ea typeface="Noto Serif JP" pitchFamily="34" charset="-122"/>
                <a:cs typeface="Noto Serif JP" pitchFamily="34" charset="-120"/>
              </a:rPr>
              <a:t>15</a:t>
            </a:r>
            <a:r>
              <a:rPr lang="en-US" sz="3600" b="1" dirty="0">
                <a:solidFill>
                  <a:srgbClr val="6B7280"/>
                </a:solidFill>
                <a:latin typeface="Noto Serif JP" pitchFamily="34" charset="0"/>
                <a:ea typeface="Noto Serif JP" pitchFamily="34" charset="-122"/>
                <a:cs typeface="Noto Serif JP" pitchFamily="34" charset="-120"/>
              </a:rPr>
              <a:t>分</a:t>
            </a:r>
            <a:endParaRPr lang="en-US" sz="3600" dirty="0"/>
          </a:p>
        </p:txBody>
      </p:sp>
      <p:sp>
        <p:nvSpPr>
          <p:cNvPr id="12" name="Text 10"/>
          <p:cNvSpPr/>
          <p:nvPr/>
        </p:nvSpPr>
        <p:spPr>
          <a:xfrm>
            <a:off x="4656614" y="3972561"/>
            <a:ext cx="2965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Noto Sans JP" pitchFamily="34" charset="0"/>
                <a:ea typeface="Noto Sans JP" pitchFamily="34" charset="-122"/>
                <a:cs typeface="Noto Sans JP" pitchFamily="34" charset="-120"/>
              </a:rPr>
              <a:t>ピーク時のレジ待ち（最大）</a:t>
            </a:r>
            <a:endParaRPr lang="en-US" sz="1400" dirty="0"/>
          </a:p>
        </p:txBody>
      </p:sp>
      <p:sp>
        <p:nvSpPr>
          <p:cNvPr id="13" name="Shape 11"/>
          <p:cNvSpPr/>
          <p:nvPr/>
        </p:nvSpPr>
        <p:spPr>
          <a:xfrm>
            <a:off x="7992507" y="3012441"/>
            <a:ext cx="3386693" cy="1463040"/>
          </a:xfrm>
          <a:prstGeom prst="rect">
            <a:avLst/>
          </a:prstGeom>
          <a:solidFill>
            <a:srgbClr val="FAF9F6"/>
          </a:solidFill>
          <a:ln/>
        </p:spPr>
      </p:sp>
      <p:sp>
        <p:nvSpPr>
          <p:cNvPr id="14" name="Shape 12"/>
          <p:cNvSpPr/>
          <p:nvPr/>
        </p:nvSpPr>
        <p:spPr>
          <a:xfrm>
            <a:off x="7992507" y="3021966"/>
            <a:ext cx="3386693" cy="0"/>
          </a:xfrm>
          <a:prstGeom prst="line">
            <a:avLst/>
          </a:prstGeom>
          <a:noFill/>
          <a:ln w="19050">
            <a:solidFill>
              <a:srgbClr val="7A2E36"/>
            </a:solidFill>
            <a:prstDash val="solid"/>
          </a:ln>
        </p:spPr>
      </p:sp>
      <p:sp>
        <p:nvSpPr>
          <p:cNvPr id="15" name="Text 13"/>
          <p:cNvSpPr/>
          <p:nvPr/>
        </p:nvSpPr>
        <p:spPr>
          <a:xfrm>
            <a:off x="8246507" y="3281680"/>
            <a:ext cx="2965054" cy="482600"/>
          </a:xfrm>
          <a:prstGeom prst="rect">
            <a:avLst/>
          </a:prstGeom>
          <a:noFill/>
          <a:ln/>
        </p:spPr>
        <p:txBody>
          <a:bodyPr wrap="square" lIns="0" tIns="0" rIns="0" bIns="0" rtlCol="0" anchor="t">
            <a:normAutofit/>
          </a:bodyPr>
          <a:lstStyle/>
          <a:p>
            <a:pPr algn="l" indent="0" marL="0">
              <a:lnSpc>
                <a:spcPts val="3600"/>
              </a:lnSpc>
              <a:buNone/>
            </a:pPr>
            <a:r>
              <a:rPr lang="en-US" sz="2400" b="1" dirty="0">
                <a:solidFill>
                  <a:srgbClr val="1F2A37"/>
                </a:solidFill>
                <a:latin typeface="Noto Serif JP" pitchFamily="34" charset="0"/>
                <a:ea typeface="Noto Serif JP" pitchFamily="34" charset="-122"/>
                <a:cs typeface="Noto Serif JP" pitchFamily="34" charset="-120"/>
              </a:rPr>
              <a:t>売り切れ・作りすぎ</a:t>
            </a:r>
            <a:endParaRPr lang="en-US" sz="2400" dirty="0"/>
          </a:p>
        </p:txBody>
      </p:sp>
      <p:sp>
        <p:nvSpPr>
          <p:cNvPr id="16" name="Text 14"/>
          <p:cNvSpPr/>
          <p:nvPr/>
        </p:nvSpPr>
        <p:spPr>
          <a:xfrm>
            <a:off x="8246507" y="3789680"/>
            <a:ext cx="2965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Noto Sans JP" pitchFamily="34" charset="0"/>
                <a:ea typeface="Noto Sans JP" pitchFamily="34" charset="-122"/>
                <a:cs typeface="Noto Sans JP" pitchFamily="34" charset="-120"/>
              </a:rPr>
              <a:t>食品ロスと機会損失</a:t>
            </a:r>
            <a:endParaRPr lang="en-US" sz="1400" dirty="0"/>
          </a:p>
        </p:txBody>
      </p:sp>
      <p:sp>
        <p:nvSpPr>
          <p:cNvPr id="17" name="Text 1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詳しい内容は第3回で扱います。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2A37"/>
        </a:solidFill>
      </p:bgPr>
    </p:bg>
    <p:spTree>
      <p:nvGrpSpPr>
        <p:cNvPr id="1" name=""/>
        <p:cNvGrpSpPr/>
        <p:nvPr/>
      </p:nvGrpSpPr>
      <p:grpSpPr>
        <a:xfrm>
          <a:off x="0" y="0"/>
          <a:ext cx="0" cy="0"/>
          <a:chOff x="0" y="0"/>
          <a:chExt cx="0" cy="0"/>
        </a:xfrm>
      </p:grpSpPr>
      <p:sp>
        <p:nvSpPr>
          <p:cNvPr id="2" name="Text 0"/>
          <p:cNvSpPr/>
          <p:nvPr/>
        </p:nvSpPr>
        <p:spPr>
          <a:xfrm>
            <a:off x="812800" y="21971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D9A7A0"/>
                </a:solidFill>
                <a:latin typeface="Noto Sans JP" pitchFamily="34" charset="0"/>
                <a:ea typeface="Noto Sans JP" pitchFamily="34" charset="-122"/>
                <a:cs typeface="Noto Sans JP" pitchFamily="34" charset="-120"/>
              </a:rPr>
              <a:t>講義 ①</a:t>
            </a:r>
            <a:endParaRPr lang="en-US" sz="1400" dirty="0"/>
          </a:p>
        </p:txBody>
      </p:sp>
      <p:sp>
        <p:nvSpPr>
          <p:cNvPr id="3" name="Text 1"/>
          <p:cNvSpPr/>
          <p:nvPr/>
        </p:nvSpPr>
        <p:spPr>
          <a:xfrm>
            <a:off x="812800" y="2700021"/>
            <a:ext cx="10883392" cy="14478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FAF9F6"/>
                </a:solidFill>
                <a:latin typeface="Noto Serif JP" pitchFamily="34" charset="0"/>
                <a:ea typeface="Noto Serif JP" pitchFamily="34" charset="-122"/>
                <a:cs typeface="Noto Serif JP" pitchFamily="34" charset="-120"/>
              </a:rPr>
              <a:t>今朝起きてから、何回</a:t>
            </a:r>
            <a:endParaRPr lang="en-US" sz="4000" dirty="0"/>
          </a:p>
          <a:p>
            <a:pPr algn="l" indent="0" marL="0">
              <a:lnSpc>
                <a:spcPts val="5600"/>
              </a:lnSpc>
              <a:buNone/>
            </a:pPr>
            <a:r>
              <a:rPr lang="en-US" sz="4000" b="1" dirty="0">
                <a:solidFill>
                  <a:srgbClr val="FAF9F6"/>
                </a:solidFill>
                <a:latin typeface="Noto Serif JP" pitchFamily="34" charset="0"/>
                <a:ea typeface="Noto Serif JP" pitchFamily="34" charset="-122"/>
                <a:cs typeface="Noto Serif JP" pitchFamily="34" charset="-120"/>
              </a:rPr>
              <a:t>ソフトウェアのお世話になりましたか？</a:t>
            </a:r>
            <a:endParaRPr lang="en-US" sz="4000" dirty="0"/>
          </a:p>
        </p:txBody>
      </p:sp>
      <p:sp>
        <p:nvSpPr>
          <p:cNvPr id="4" name="Text 2"/>
          <p:cNvSpPr/>
          <p:nvPr/>
        </p:nvSpPr>
        <p:spPr>
          <a:xfrm>
            <a:off x="812800" y="43764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ED6"/>
                </a:solidFill>
                <a:latin typeface="Noto Sans JP" pitchFamily="34" charset="0"/>
                <a:ea typeface="Noto Sans JP" pitchFamily="34" charset="-122"/>
                <a:cs typeface="Noto Sans JP" pitchFamily="34" charset="-120"/>
              </a:rPr>
              <a:t>隣の人と30秒で数えてみましょう</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E36"/>
                </a:solidFill>
                <a:latin typeface="Noto Sans JP" pitchFamily="34" charset="0"/>
                <a:ea typeface="Noto Sans JP" pitchFamily="34" charset="-122"/>
                <a:cs typeface="Noto Sans JP" pitchFamily="34" charset="-120"/>
              </a:rPr>
              <a:t>講義 ①　例：上野の場合</a:t>
            </a:r>
            <a:endParaRPr lang="en-US" sz="1200" dirty="0"/>
          </a:p>
        </p:txBody>
      </p:sp>
      <p:sp>
        <p:nvSpPr>
          <p:cNvPr id="3" name="Text 1"/>
          <p:cNvSpPr/>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37"/>
                </a:solidFill>
                <a:latin typeface="Noto Serif JP" pitchFamily="34" charset="0"/>
                <a:ea typeface="Noto Serif JP" pitchFamily="34" charset="-122"/>
                <a:cs typeface="Noto Serif JP" pitchFamily="34" charset="-120"/>
              </a:rPr>
              <a:t>朝起きてから教室まで、16個</a:t>
            </a:r>
            <a:endParaRPr lang="en-US" sz="3200" dirty="0"/>
          </a:p>
        </p:txBody>
      </p:sp>
      <p:sp>
        <p:nvSpPr>
          <p:cNvPr id="4" name="Shape 2"/>
          <p:cNvSpPr/>
          <p:nvPr/>
        </p:nvSpPr>
        <p:spPr>
          <a:xfrm>
            <a:off x="812800" y="1884046"/>
            <a:ext cx="3386614" cy="0"/>
          </a:xfrm>
          <a:prstGeom prst="line">
            <a:avLst/>
          </a:prstGeom>
          <a:noFill/>
          <a:ln w="19050">
            <a:solidFill>
              <a:srgbClr val="7A2E36"/>
            </a:solidFill>
            <a:prstDash val="solid"/>
          </a:ln>
        </p:spPr>
      </p:sp>
      <p:sp>
        <p:nvSpPr>
          <p:cNvPr id="5" name="Text 3"/>
          <p:cNvSpPr/>
          <p:nvPr/>
        </p:nvSpPr>
        <p:spPr>
          <a:xfrm>
            <a:off x="812800" y="2042161"/>
            <a:ext cx="348821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A2E36"/>
                </a:solidFill>
                <a:latin typeface="Noto Sans JP" pitchFamily="34" charset="0"/>
                <a:ea typeface="Noto Sans JP" pitchFamily="34" charset="-122"/>
                <a:cs typeface="Noto Sans JP" pitchFamily="34" charset="-120"/>
              </a:rPr>
              <a:t>自宅で　6</a:t>
            </a:r>
            <a:endParaRPr lang="en-US" sz="1400" dirty="0"/>
          </a:p>
        </p:txBody>
      </p:sp>
      <p:sp>
        <p:nvSpPr>
          <p:cNvPr id="6" name="Text 4"/>
          <p:cNvSpPr/>
          <p:nvPr/>
        </p:nvSpPr>
        <p:spPr>
          <a:xfrm>
            <a:off x="812800" y="2392682"/>
            <a:ext cx="3488212" cy="1968500"/>
          </a:xfrm>
          <a:prstGeom prst="rect">
            <a:avLst/>
          </a:prstGeom>
          <a:noFill/>
          <a:ln/>
        </p:spPr>
        <p:txBody>
          <a:bodyPr wrap="square" lIns="0" tIns="0" rIns="0" bIns="0" rtlCol="0" anchor="t">
            <a:normAutofit/>
          </a:bodyPr>
          <a:lstStyle/>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スマホ（Android OS）</a:t>
            </a:r>
            <a:endParaRPr lang="en-US" sz="1500" dirty="0"/>
          </a:p>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電波時計</a:t>
            </a:r>
            <a:endParaRPr lang="en-US" sz="1500" dirty="0"/>
          </a:p>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給湯器</a:t>
            </a:r>
            <a:endParaRPr lang="en-US" sz="1500" dirty="0"/>
          </a:p>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トイレのウォシュレット</a:t>
            </a:r>
            <a:endParaRPr lang="en-US" sz="1500" dirty="0"/>
          </a:p>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冷蔵庫</a:t>
            </a:r>
            <a:endParaRPr lang="en-US" sz="1500" dirty="0"/>
          </a:p>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テレビ</a:t>
            </a:r>
            <a:endParaRPr lang="en-US" sz="1500" dirty="0"/>
          </a:p>
        </p:txBody>
      </p:sp>
      <p:sp>
        <p:nvSpPr>
          <p:cNvPr id="7" name="Shape 5"/>
          <p:cNvSpPr/>
          <p:nvPr/>
        </p:nvSpPr>
        <p:spPr>
          <a:xfrm>
            <a:off x="4402614" y="1884046"/>
            <a:ext cx="3386693" cy="0"/>
          </a:xfrm>
          <a:prstGeom prst="line">
            <a:avLst/>
          </a:prstGeom>
          <a:noFill/>
          <a:ln w="19050">
            <a:solidFill>
              <a:srgbClr val="7A2E36"/>
            </a:solidFill>
            <a:prstDash val="solid"/>
          </a:ln>
        </p:spPr>
      </p:sp>
      <p:sp>
        <p:nvSpPr>
          <p:cNvPr id="8" name="Text 6"/>
          <p:cNvSpPr/>
          <p:nvPr/>
        </p:nvSpPr>
        <p:spPr>
          <a:xfrm>
            <a:off x="4402614" y="2042161"/>
            <a:ext cx="34882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A2E36"/>
                </a:solidFill>
                <a:latin typeface="Noto Sans JP" pitchFamily="34" charset="0"/>
                <a:ea typeface="Noto Sans JP" pitchFamily="34" charset="-122"/>
                <a:cs typeface="Noto Sans JP" pitchFamily="34" charset="-120"/>
              </a:rPr>
              <a:t>移動中に　3</a:t>
            </a:r>
            <a:endParaRPr lang="en-US" sz="1400" dirty="0"/>
          </a:p>
        </p:txBody>
      </p:sp>
      <p:sp>
        <p:nvSpPr>
          <p:cNvPr id="9" name="Text 7"/>
          <p:cNvSpPr/>
          <p:nvPr/>
        </p:nvSpPr>
        <p:spPr>
          <a:xfrm>
            <a:off x="4402614" y="2392682"/>
            <a:ext cx="3488294" cy="996950"/>
          </a:xfrm>
          <a:prstGeom prst="rect">
            <a:avLst/>
          </a:prstGeom>
          <a:noFill/>
          <a:ln/>
        </p:spPr>
        <p:txBody>
          <a:bodyPr wrap="square" lIns="0" tIns="0" rIns="0" bIns="0" rtlCol="0" anchor="t">
            <a:normAutofit/>
          </a:bodyPr>
          <a:lstStyle/>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車</a:t>
            </a:r>
            <a:endParaRPr lang="en-US" sz="1500" dirty="0"/>
          </a:p>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信号機</a:t>
            </a:r>
            <a:endParaRPr lang="en-US" sz="1500" dirty="0"/>
          </a:p>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ワイヤレスイヤホン</a:t>
            </a:r>
            <a:endParaRPr lang="en-US" sz="1500" dirty="0"/>
          </a:p>
        </p:txBody>
      </p:sp>
      <p:sp>
        <p:nvSpPr>
          <p:cNvPr id="10" name="Shape 8"/>
          <p:cNvSpPr/>
          <p:nvPr/>
        </p:nvSpPr>
        <p:spPr>
          <a:xfrm>
            <a:off x="7992507" y="1884046"/>
            <a:ext cx="3386693" cy="0"/>
          </a:xfrm>
          <a:prstGeom prst="line">
            <a:avLst/>
          </a:prstGeom>
          <a:noFill/>
          <a:ln w="19050">
            <a:solidFill>
              <a:srgbClr val="7A2E36"/>
            </a:solidFill>
            <a:prstDash val="solid"/>
          </a:ln>
        </p:spPr>
      </p:sp>
      <p:sp>
        <p:nvSpPr>
          <p:cNvPr id="11" name="Text 9"/>
          <p:cNvSpPr/>
          <p:nvPr/>
        </p:nvSpPr>
        <p:spPr>
          <a:xfrm>
            <a:off x="7992507" y="2042161"/>
            <a:ext cx="34882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A2E36"/>
                </a:solidFill>
                <a:latin typeface="Noto Sans JP" pitchFamily="34" charset="0"/>
                <a:ea typeface="Noto Sans JP" pitchFamily="34" charset="-122"/>
                <a:cs typeface="Noto Sans JP" pitchFamily="34" charset="-120"/>
              </a:rPr>
              <a:t>学校で　7</a:t>
            </a:r>
            <a:endParaRPr lang="en-US" sz="1400" dirty="0"/>
          </a:p>
        </p:txBody>
      </p:sp>
      <p:sp>
        <p:nvSpPr>
          <p:cNvPr id="12" name="Text 10"/>
          <p:cNvSpPr/>
          <p:nvPr/>
        </p:nvSpPr>
        <p:spPr>
          <a:xfrm>
            <a:off x="7992507" y="2392682"/>
            <a:ext cx="3488294" cy="2292350"/>
          </a:xfrm>
          <a:prstGeom prst="rect">
            <a:avLst/>
          </a:prstGeom>
          <a:noFill/>
          <a:ln/>
        </p:spPr>
        <p:txBody>
          <a:bodyPr wrap="square" lIns="0" tIns="0" rIns="0" bIns="0" rtlCol="0" anchor="t">
            <a:normAutofit/>
          </a:bodyPr>
          <a:lstStyle/>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2号館のセキュリティロック</a:t>
            </a:r>
            <a:endParaRPr lang="en-US" sz="1500" dirty="0"/>
          </a:p>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自動ドア</a:t>
            </a:r>
            <a:endParaRPr lang="en-US" sz="1500" dirty="0"/>
          </a:p>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PC（Windows OS）</a:t>
            </a:r>
            <a:endParaRPr lang="en-US" sz="1500" dirty="0"/>
          </a:p>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モニター</a:t>
            </a:r>
            <a:endParaRPr lang="en-US" sz="1500" dirty="0"/>
          </a:p>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給湯ポット</a:t>
            </a:r>
            <a:endParaRPr lang="en-US" sz="1500" dirty="0"/>
          </a:p>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手洗い場（感知式）</a:t>
            </a:r>
            <a:endParaRPr lang="en-US" sz="1500" dirty="0"/>
          </a:p>
          <a:p>
            <a:pPr algn="l" marL="228600" indent="-201930">
              <a:lnSpc>
                <a:spcPts val="2550"/>
              </a:lnSpc>
              <a:buSzPct val="100000"/>
              <a:buChar char="•"/>
            </a:pPr>
            <a:r>
              <a:rPr lang="en-US" sz="1500" dirty="0">
                <a:solidFill>
                  <a:srgbClr val="1F2A37"/>
                </a:solidFill>
                <a:latin typeface="Noto Sans JP" pitchFamily="34" charset="0"/>
                <a:ea typeface="Noto Sans JP" pitchFamily="34" charset="-122"/>
                <a:cs typeface="Noto Sans JP" pitchFamily="34" charset="-120"/>
              </a:rPr>
              <a:t>プロジェクター</a:t>
            </a:r>
            <a:endParaRPr lang="en-US" sz="1500" dirty="0"/>
          </a:p>
        </p:txBody>
      </p:sp>
      <p:sp>
        <p:nvSpPr>
          <p:cNvPr id="13" name="Text 1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画面がない機械の中でも、ソフトウェアが動いている。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E36"/>
                </a:solidFill>
                <a:latin typeface="Noto Sans JP" pitchFamily="34" charset="0"/>
                <a:ea typeface="Noto Sans JP" pitchFamily="34" charset="-122"/>
                <a:cs typeface="Noto Sans JP" pitchFamily="34" charset="-120"/>
              </a:rPr>
              <a:t>講義 ②　p.008</a:t>
            </a:r>
            <a:endParaRPr lang="en-US" sz="1200" dirty="0"/>
          </a:p>
        </p:txBody>
      </p:sp>
      <p:sp>
        <p:nvSpPr>
          <p:cNvPr id="3" name="Text 1"/>
          <p:cNvSpPr/>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37"/>
                </a:solidFill>
                <a:latin typeface="Noto Serif JP" pitchFamily="34" charset="0"/>
                <a:ea typeface="Noto Serif JP" pitchFamily="34" charset="-122"/>
                <a:cs typeface="Noto Serif JP" pitchFamily="34" charset="-120"/>
              </a:rPr>
              <a:t>ソフトウェアとは何か</a:t>
            </a:r>
            <a:endParaRPr lang="en-US" sz="3200" dirty="0"/>
          </a:p>
        </p:txBody>
      </p:sp>
      <p:sp>
        <p:nvSpPr>
          <p:cNvPr id="4" name="Shape 2"/>
          <p:cNvSpPr/>
          <p:nvPr/>
        </p:nvSpPr>
        <p:spPr>
          <a:xfrm>
            <a:off x="815975" y="1928496"/>
            <a:ext cx="5175250" cy="2015490"/>
          </a:xfrm>
          <a:prstGeom prst="rect">
            <a:avLst/>
          </a:prstGeom>
          <a:noFill/>
          <a:ln w="6350">
            <a:solidFill>
              <a:srgbClr val="D6D3CC"/>
            </a:solidFill>
            <a:prstDash val="solid"/>
          </a:ln>
        </p:spPr>
      </p:sp>
      <p:sp>
        <p:nvSpPr>
          <p:cNvPr id="5" name="Text 3"/>
          <p:cNvSpPr/>
          <p:nvPr/>
        </p:nvSpPr>
        <p:spPr>
          <a:xfrm>
            <a:off x="1122680" y="2235200"/>
            <a:ext cx="469869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Hardware</a:t>
            </a:r>
            <a:endParaRPr lang="en-US" sz="1200" dirty="0"/>
          </a:p>
        </p:txBody>
      </p:sp>
      <p:sp>
        <p:nvSpPr>
          <p:cNvPr id="6" name="Text 4"/>
          <p:cNvSpPr/>
          <p:nvPr/>
        </p:nvSpPr>
        <p:spPr>
          <a:xfrm>
            <a:off x="1122680" y="2550161"/>
            <a:ext cx="469869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2A37"/>
                </a:solidFill>
                <a:latin typeface="Noto Serif JP" pitchFamily="34" charset="0"/>
                <a:ea typeface="Noto Serif JP" pitchFamily="34" charset="-122"/>
                <a:cs typeface="Noto Serif JP" pitchFamily="34" charset="-120"/>
              </a:rPr>
              <a:t>ハードウェア</a:t>
            </a:r>
            <a:endParaRPr lang="en-US" sz="2200" dirty="0"/>
          </a:p>
        </p:txBody>
      </p:sp>
      <p:sp>
        <p:nvSpPr>
          <p:cNvPr id="7" name="Text 5"/>
          <p:cNvSpPr/>
          <p:nvPr/>
        </p:nvSpPr>
        <p:spPr>
          <a:xfrm>
            <a:off x="1122680" y="2987039"/>
            <a:ext cx="4698695" cy="350520"/>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4A5563"/>
                </a:solidFill>
                <a:latin typeface="Noto Sans JP" pitchFamily="34" charset="0"/>
                <a:ea typeface="Noto Sans JP" pitchFamily="34" charset="-122"/>
                <a:cs typeface="Noto Sans JP" pitchFamily="34" charset="-120"/>
              </a:rPr>
              <a:t>装置そのもの。基本的に変わらない。</a:t>
            </a:r>
            <a:endParaRPr lang="en-US" sz="1600" dirty="0"/>
          </a:p>
        </p:txBody>
      </p:sp>
      <p:sp>
        <p:nvSpPr>
          <p:cNvPr id="8" name="Shape 6"/>
          <p:cNvSpPr/>
          <p:nvPr/>
        </p:nvSpPr>
        <p:spPr>
          <a:xfrm>
            <a:off x="6200775" y="1928496"/>
            <a:ext cx="5175250" cy="2015490"/>
          </a:xfrm>
          <a:prstGeom prst="rect">
            <a:avLst/>
          </a:prstGeom>
          <a:solidFill>
            <a:srgbClr val="F6EEEC"/>
          </a:solidFill>
          <a:ln w="6350">
            <a:solidFill>
              <a:srgbClr val="7A2E36"/>
            </a:solidFill>
            <a:prstDash val="solid"/>
          </a:ln>
        </p:spPr>
      </p:sp>
      <p:sp>
        <p:nvSpPr>
          <p:cNvPr id="9" name="Text 7"/>
          <p:cNvSpPr/>
          <p:nvPr/>
        </p:nvSpPr>
        <p:spPr>
          <a:xfrm>
            <a:off x="6507480" y="2235200"/>
            <a:ext cx="469869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E36"/>
                </a:solidFill>
                <a:latin typeface="Noto Sans JP" pitchFamily="34" charset="0"/>
                <a:ea typeface="Noto Sans JP" pitchFamily="34" charset="-122"/>
                <a:cs typeface="Noto Sans JP" pitchFamily="34" charset="-120"/>
              </a:rPr>
              <a:t>Software</a:t>
            </a:r>
            <a:endParaRPr lang="en-US" sz="1200" dirty="0"/>
          </a:p>
        </p:txBody>
      </p:sp>
      <p:sp>
        <p:nvSpPr>
          <p:cNvPr id="10" name="Text 8"/>
          <p:cNvSpPr/>
          <p:nvPr/>
        </p:nvSpPr>
        <p:spPr>
          <a:xfrm>
            <a:off x="6507480" y="2550161"/>
            <a:ext cx="469869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2A37"/>
                </a:solidFill>
                <a:latin typeface="Noto Serif JP" pitchFamily="34" charset="0"/>
                <a:ea typeface="Noto Serif JP" pitchFamily="34" charset="-122"/>
                <a:cs typeface="Noto Serif JP" pitchFamily="34" charset="-120"/>
              </a:rPr>
              <a:t>ソフトウェア</a:t>
            </a:r>
            <a:endParaRPr lang="en-US" sz="2200" dirty="0"/>
          </a:p>
        </p:txBody>
      </p:sp>
      <p:sp>
        <p:nvSpPr>
          <p:cNvPr id="11" name="Text 9"/>
          <p:cNvSpPr/>
          <p:nvPr/>
        </p:nvSpPr>
        <p:spPr>
          <a:xfrm>
            <a:off x="6507480" y="2987039"/>
            <a:ext cx="4698695" cy="675640"/>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4A5563"/>
                </a:solidFill>
                <a:latin typeface="Noto Sans JP" pitchFamily="34" charset="0"/>
                <a:ea typeface="Noto Sans JP" pitchFamily="34" charset="-122"/>
                <a:cs typeface="Noto Sans JP" pitchFamily="34" charset="-120"/>
              </a:rPr>
              <a:t>その上で動くプログラム。入れ替えれば同じ1台がワープロにもゲーム機にもなる。</a:t>
            </a:r>
            <a:endParaRPr lang="en-US" sz="1600" dirty="0"/>
          </a:p>
        </p:txBody>
      </p:sp>
      <p:sp>
        <p:nvSpPr>
          <p:cNvPr id="12" name="Text 10"/>
          <p:cNvSpPr/>
          <p:nvPr/>
        </p:nvSpPr>
        <p:spPr>
          <a:xfrm>
            <a:off x="812800" y="430276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3"/>
                </a:solidFill>
                <a:latin typeface="Noto Sans JP" pitchFamily="34" charset="0"/>
                <a:ea typeface="Noto Sans JP" pitchFamily="34" charset="-122"/>
                <a:cs typeface="Noto Sans JP" pitchFamily="34" charset="-120"/>
              </a:rPr>
              <a:t>ソフトウェアが、コンピュータの使い道を広げてきた。</a:t>
            </a:r>
            <a:endParaRPr lang="en-US" sz="1600" dirty="0"/>
          </a:p>
        </p:txBody>
      </p:sp>
      <p:sp>
        <p:nvSpPr>
          <p:cNvPr id="13" name="Text 1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システム開発（基礎）第1回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E36"/>
                </a:solidFill>
                <a:latin typeface="Noto Sans JP" pitchFamily="34" charset="0"/>
                <a:ea typeface="Noto Sans JP" pitchFamily="34" charset="-122"/>
                <a:cs typeface="Noto Sans JP" pitchFamily="34" charset="-120"/>
              </a:rPr>
              <a:t>講義 ②　p.008〜009</a:t>
            </a:r>
            <a:endParaRPr lang="en-US" sz="1200" dirty="0"/>
          </a:p>
        </p:txBody>
      </p:sp>
      <p:sp>
        <p:nvSpPr>
          <p:cNvPr id="3" name="Text 1"/>
          <p:cNvSpPr/>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37"/>
                </a:solidFill>
                <a:latin typeface="Noto Serif JP" pitchFamily="34" charset="0"/>
                <a:ea typeface="Noto Serif JP" pitchFamily="34" charset="-122"/>
                <a:cs typeface="Noto Serif JP" pitchFamily="34" charset="-120"/>
              </a:rPr>
              <a:t>ソフトウェア危機と、エンジニアリングの誕生</a:t>
            </a:r>
            <a:endParaRPr lang="en-US" sz="3200" dirty="0"/>
          </a:p>
        </p:txBody>
      </p:sp>
      <p:sp>
        <p:nvSpPr>
          <p:cNvPr id="4" name="Text 2"/>
          <p:cNvSpPr/>
          <p:nvPr/>
        </p:nvSpPr>
        <p:spPr>
          <a:xfrm>
            <a:off x="812800" y="1925321"/>
            <a:ext cx="47091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問題</a:t>
            </a:r>
            <a:endParaRPr lang="en-US" sz="1200" dirty="0"/>
          </a:p>
        </p:txBody>
      </p:sp>
      <p:sp>
        <p:nvSpPr>
          <p:cNvPr id="5" name="Text 3"/>
          <p:cNvSpPr/>
          <p:nvPr/>
        </p:nvSpPr>
        <p:spPr>
          <a:xfrm>
            <a:off x="812800" y="2240282"/>
            <a:ext cx="4709160" cy="756920"/>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1F2A37"/>
                </a:solidFill>
                <a:latin typeface="Noto Sans JP" pitchFamily="34" charset="0"/>
                <a:ea typeface="Noto Sans JP" pitchFamily="34" charset="-122"/>
                <a:cs typeface="Noto Sans JP" pitchFamily="34" charset="-120"/>
              </a:rPr>
              <a:t>ソフトウェアが大きく複雑になり、品質が落ち、生産性が上がらない</a:t>
            </a:r>
            <a:endParaRPr lang="en-US" sz="1800" dirty="0"/>
          </a:p>
        </p:txBody>
      </p:sp>
      <p:pic>
        <p:nvPicPr>
          <p:cNvPr id="6" name="Image 0" descr="arrow-right">    </p:cNvPr>
          <p:cNvPicPr>
            <a:picLocks noChangeAspect="1"/>
          </p:cNvPicPr>
          <p:nvPr/>
        </p:nvPicPr>
        <p:blipFill>
          <a:blip r:embed="rId1"/>
          <a:srcRect l="0" r="0" t="0" b="0"/>
          <a:stretch/>
        </p:blipFill>
        <p:spPr>
          <a:xfrm>
            <a:off x="5791200" y="2296161"/>
            <a:ext cx="609600" cy="304800"/>
          </a:xfrm>
          <a:prstGeom prst="rect">
            <a:avLst/>
          </a:prstGeom>
        </p:spPr>
      </p:pic>
      <p:sp>
        <p:nvSpPr>
          <p:cNvPr id="7" name="Text 4"/>
          <p:cNvSpPr/>
          <p:nvPr/>
        </p:nvSpPr>
        <p:spPr>
          <a:xfrm>
            <a:off x="6807200" y="2108200"/>
            <a:ext cx="47091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答え</a:t>
            </a:r>
            <a:endParaRPr lang="en-US" sz="1200" dirty="0"/>
          </a:p>
        </p:txBody>
      </p:sp>
      <p:sp>
        <p:nvSpPr>
          <p:cNvPr id="8" name="Text 5"/>
          <p:cNvSpPr/>
          <p:nvPr/>
        </p:nvSpPr>
        <p:spPr>
          <a:xfrm>
            <a:off x="6807200" y="2423161"/>
            <a:ext cx="4709160" cy="391160"/>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1F2A37"/>
                </a:solidFill>
                <a:latin typeface="Noto Sans JP" pitchFamily="34" charset="0"/>
                <a:ea typeface="Noto Sans JP" pitchFamily="34" charset="-122"/>
                <a:cs typeface="Noto Sans JP" pitchFamily="34" charset="-120"/>
              </a:rPr>
              <a:t>プログラム開発を</a:t>
            </a:r>
            <a:r>
              <a:rPr lang="en-US" sz="1800" b="1" dirty="0">
                <a:solidFill>
                  <a:srgbClr val="1F2A37"/>
                </a:solidFill>
                <a:latin typeface="Noto Sans JP" pitchFamily="34" charset="0"/>
                <a:ea typeface="Noto Sans JP" pitchFamily="34" charset="-122"/>
                <a:cs typeface="Noto Sans JP" pitchFamily="34" charset="-120"/>
              </a:rPr>
              <a:t>工学</a:t>
            </a:r>
            <a:r>
              <a:rPr lang="en-US" sz="1800" dirty="0">
                <a:solidFill>
                  <a:srgbClr val="1F2A37"/>
                </a:solidFill>
                <a:latin typeface="Noto Sans JP" pitchFamily="34" charset="0"/>
                <a:ea typeface="Noto Sans JP" pitchFamily="34" charset="-122"/>
                <a:cs typeface="Noto Sans JP" pitchFamily="34" charset="-120"/>
              </a:rPr>
              <a:t>としてとらえる</a:t>
            </a:r>
            <a:endParaRPr lang="en-US" sz="1800" dirty="0"/>
          </a:p>
        </p:txBody>
      </p:sp>
      <p:sp>
        <p:nvSpPr>
          <p:cNvPr id="9" name="Shape 6"/>
          <p:cNvSpPr/>
          <p:nvPr/>
        </p:nvSpPr>
        <p:spPr>
          <a:xfrm>
            <a:off x="812800" y="3327400"/>
            <a:ext cx="10566400" cy="899160"/>
          </a:xfrm>
          <a:prstGeom prst="rect">
            <a:avLst/>
          </a:prstGeom>
          <a:solidFill>
            <a:srgbClr val="F1EFE9"/>
          </a:solidFill>
          <a:ln/>
        </p:spPr>
      </p:sp>
      <p:sp>
        <p:nvSpPr>
          <p:cNvPr id="10" name="Text 7"/>
          <p:cNvSpPr/>
          <p:nvPr/>
        </p:nvSpPr>
        <p:spPr>
          <a:xfrm>
            <a:off x="1117600" y="3581400"/>
            <a:ext cx="2590038"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7A2E36"/>
                </a:solidFill>
                <a:latin typeface="Noto Serif JP" pitchFamily="34" charset="0"/>
                <a:ea typeface="Noto Serif JP" pitchFamily="34" charset="-122"/>
                <a:cs typeface="Noto Serif JP" pitchFamily="34" charset="-120"/>
              </a:rPr>
              <a:t>早く・安く・正確に</a:t>
            </a:r>
            <a:endParaRPr lang="en-US" sz="2200" dirty="0"/>
          </a:p>
        </p:txBody>
      </p:sp>
      <p:sp>
        <p:nvSpPr>
          <p:cNvPr id="11" name="Text 8"/>
          <p:cNvSpPr/>
          <p:nvPr/>
        </p:nvSpPr>
        <p:spPr>
          <a:xfrm>
            <a:off x="3937000" y="3581400"/>
            <a:ext cx="7116064" cy="416560"/>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4A5563"/>
                </a:solidFill>
                <a:latin typeface="Noto Sans JP" pitchFamily="34" charset="0"/>
                <a:ea typeface="Noto Sans JP" pitchFamily="34" charset="-122"/>
                <a:cs typeface="Noto Sans JP" pitchFamily="34" charset="-120"/>
              </a:rPr>
              <a:t>しかも誰でも作れるように。牛丼屋の「早い・安い・うまい」と同じ発想。</a:t>
            </a:r>
            <a:endParaRPr lang="en-US" sz="1600" dirty="0"/>
          </a:p>
        </p:txBody>
      </p:sp>
      <p:sp>
        <p:nvSpPr>
          <p:cNvPr id="12" name="Text 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システム開発（基礎）第1回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E36"/>
                </a:solidFill>
                <a:latin typeface="Noto Sans JP" pitchFamily="34" charset="0"/>
                <a:ea typeface="Noto Sans JP" pitchFamily="34" charset="-122"/>
                <a:cs typeface="Noto Sans JP" pitchFamily="34" charset="-120"/>
              </a:rPr>
              <a:t>講義 ②　p.009〜013</a:t>
            </a:r>
            <a:endParaRPr lang="en-US" sz="1200" dirty="0"/>
          </a:p>
        </p:txBody>
      </p:sp>
      <p:sp>
        <p:nvSpPr>
          <p:cNvPr id="3" name="Text 1"/>
          <p:cNvSpPr/>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37"/>
                </a:solidFill>
                <a:latin typeface="Noto Serif JP" pitchFamily="34" charset="0"/>
                <a:ea typeface="Noto Serif JP" pitchFamily="34" charset="-122"/>
                <a:cs typeface="Noto Serif JP" pitchFamily="34" charset="-120"/>
              </a:rPr>
              <a:t>作り方は、60年かけて改良されてきた</a:t>
            </a:r>
            <a:endParaRPr lang="en-US" sz="3200" dirty="0"/>
          </a:p>
        </p:txBody>
      </p:sp>
      <p:sp>
        <p:nvSpPr>
          <p:cNvPr id="4" name="Shape 2"/>
          <p:cNvSpPr/>
          <p:nvPr/>
        </p:nvSpPr>
        <p:spPr>
          <a:xfrm>
            <a:off x="812800" y="1934846"/>
            <a:ext cx="1991360" cy="0"/>
          </a:xfrm>
          <a:prstGeom prst="line">
            <a:avLst/>
          </a:prstGeom>
          <a:noFill/>
          <a:ln w="19050">
            <a:solidFill>
              <a:srgbClr val="7A2E36"/>
            </a:solidFill>
            <a:prstDash val="solid"/>
          </a:ln>
        </p:spPr>
      </p:sp>
      <p:sp>
        <p:nvSpPr>
          <p:cNvPr id="5" name="Text 3"/>
          <p:cNvSpPr/>
          <p:nvPr/>
        </p:nvSpPr>
        <p:spPr>
          <a:xfrm>
            <a:off x="812800" y="2092964"/>
            <a:ext cx="205110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2A37"/>
                </a:solidFill>
                <a:latin typeface="Noto Serif JP" pitchFamily="34" charset="0"/>
                <a:ea typeface="Noto Serif JP" pitchFamily="34" charset="-122"/>
                <a:cs typeface="Noto Serif JP" pitchFamily="34" charset="-120"/>
              </a:rPr>
              <a:t>1968</a:t>
            </a:r>
            <a:endParaRPr lang="en-US" sz="2000" dirty="0"/>
          </a:p>
        </p:txBody>
      </p:sp>
      <p:sp>
        <p:nvSpPr>
          <p:cNvPr id="6" name="Text 4"/>
          <p:cNvSpPr/>
          <p:nvPr/>
        </p:nvSpPr>
        <p:spPr>
          <a:xfrm>
            <a:off x="812800" y="2550164"/>
            <a:ext cx="20511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始まり</a:t>
            </a:r>
            <a:endParaRPr lang="en-US" sz="1400" dirty="0"/>
          </a:p>
        </p:txBody>
      </p:sp>
      <p:sp>
        <p:nvSpPr>
          <p:cNvPr id="7" name="Text 5"/>
          <p:cNvSpPr/>
          <p:nvPr/>
        </p:nvSpPr>
        <p:spPr>
          <a:xfrm>
            <a:off x="812800" y="2900679"/>
            <a:ext cx="2051101" cy="5130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4A5563"/>
                </a:solidFill>
                <a:latin typeface="Noto Sans JP" pitchFamily="34" charset="0"/>
                <a:ea typeface="Noto Sans JP" pitchFamily="34" charset="-122"/>
                <a:cs typeface="Noto Sans JP" pitchFamily="34" charset="-120"/>
              </a:rPr>
              <a:t>ドイツでの会議。OS/360は約100万行の規模に</a:t>
            </a:r>
            <a:endParaRPr lang="en-US" sz="1200" dirty="0"/>
          </a:p>
        </p:txBody>
      </p:sp>
      <p:sp>
        <p:nvSpPr>
          <p:cNvPr id="8" name="Shape 6"/>
          <p:cNvSpPr/>
          <p:nvPr/>
        </p:nvSpPr>
        <p:spPr>
          <a:xfrm>
            <a:off x="2956560" y="1934846"/>
            <a:ext cx="1991360" cy="0"/>
          </a:xfrm>
          <a:prstGeom prst="line">
            <a:avLst/>
          </a:prstGeom>
          <a:noFill/>
          <a:ln w="19050">
            <a:solidFill>
              <a:srgbClr val="7A2E36"/>
            </a:solidFill>
            <a:prstDash val="solid"/>
          </a:ln>
        </p:spPr>
      </p:sp>
      <p:sp>
        <p:nvSpPr>
          <p:cNvPr id="9" name="Text 7"/>
          <p:cNvSpPr/>
          <p:nvPr/>
        </p:nvSpPr>
        <p:spPr>
          <a:xfrm>
            <a:off x="2956560" y="2092964"/>
            <a:ext cx="205110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2A37"/>
                </a:solidFill>
                <a:latin typeface="Noto Serif JP" pitchFamily="34" charset="0"/>
                <a:ea typeface="Noto Serif JP" pitchFamily="34" charset="-122"/>
                <a:cs typeface="Noto Serif JP" pitchFamily="34" charset="-120"/>
              </a:rPr>
              <a:t>1970s</a:t>
            </a:r>
            <a:endParaRPr lang="en-US" sz="2000" dirty="0"/>
          </a:p>
        </p:txBody>
      </p:sp>
      <p:sp>
        <p:nvSpPr>
          <p:cNvPr id="10" name="Text 8"/>
          <p:cNvSpPr/>
          <p:nvPr/>
        </p:nvSpPr>
        <p:spPr>
          <a:xfrm>
            <a:off x="2956560" y="2550164"/>
            <a:ext cx="20511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構造化</a:t>
            </a:r>
            <a:endParaRPr lang="en-US" sz="1400" dirty="0"/>
          </a:p>
        </p:txBody>
      </p:sp>
      <p:sp>
        <p:nvSpPr>
          <p:cNvPr id="11" name="Text 9"/>
          <p:cNvSpPr/>
          <p:nvPr/>
        </p:nvSpPr>
        <p:spPr>
          <a:xfrm>
            <a:off x="2956560" y="2900679"/>
            <a:ext cx="2051101" cy="5130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4A5563"/>
                </a:solidFill>
                <a:latin typeface="Noto Sans JP" pitchFamily="34" charset="0"/>
                <a:ea typeface="Noto Sans JP" pitchFamily="34" charset="-122"/>
                <a:cs typeface="Noto Sans JP" pitchFamily="34" charset="-120"/>
              </a:rPr>
              <a:t>順次・分岐・反復で書き、スパゲティをなくす</a:t>
            </a:r>
            <a:endParaRPr lang="en-US" sz="1200" dirty="0"/>
          </a:p>
        </p:txBody>
      </p:sp>
      <p:sp>
        <p:nvSpPr>
          <p:cNvPr id="12" name="Shape 10"/>
          <p:cNvSpPr/>
          <p:nvPr/>
        </p:nvSpPr>
        <p:spPr>
          <a:xfrm>
            <a:off x="5100320" y="1934846"/>
            <a:ext cx="1991360" cy="0"/>
          </a:xfrm>
          <a:prstGeom prst="line">
            <a:avLst/>
          </a:prstGeom>
          <a:noFill/>
          <a:ln w="19050">
            <a:solidFill>
              <a:srgbClr val="7A2E36"/>
            </a:solidFill>
            <a:prstDash val="solid"/>
          </a:ln>
        </p:spPr>
      </p:sp>
      <p:sp>
        <p:nvSpPr>
          <p:cNvPr id="13" name="Text 11"/>
          <p:cNvSpPr/>
          <p:nvPr/>
        </p:nvSpPr>
        <p:spPr>
          <a:xfrm>
            <a:off x="5100320" y="2092964"/>
            <a:ext cx="205110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2A37"/>
                </a:solidFill>
                <a:latin typeface="Noto Serif JP" pitchFamily="34" charset="0"/>
                <a:ea typeface="Noto Serif JP" pitchFamily="34" charset="-122"/>
                <a:cs typeface="Noto Serif JP" pitchFamily="34" charset="-120"/>
              </a:rPr>
              <a:t>1980s</a:t>
            </a:r>
            <a:endParaRPr lang="en-US" sz="2000" dirty="0"/>
          </a:p>
        </p:txBody>
      </p:sp>
      <p:sp>
        <p:nvSpPr>
          <p:cNvPr id="14" name="Text 12"/>
          <p:cNvSpPr/>
          <p:nvPr/>
        </p:nvSpPr>
        <p:spPr>
          <a:xfrm>
            <a:off x="5100320" y="2550164"/>
            <a:ext cx="20511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管理技術</a:t>
            </a:r>
            <a:endParaRPr lang="en-US" sz="1400" dirty="0"/>
          </a:p>
        </p:txBody>
      </p:sp>
      <p:sp>
        <p:nvSpPr>
          <p:cNvPr id="15" name="Text 13"/>
          <p:cNvSpPr/>
          <p:nvPr/>
        </p:nvSpPr>
        <p:spPr>
          <a:xfrm>
            <a:off x="5100320" y="2900679"/>
            <a:ext cx="2051101" cy="5130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4A5563"/>
                </a:solidFill>
                <a:latin typeface="Noto Sans JP" pitchFamily="34" charset="0"/>
                <a:ea typeface="Noto Sans JP" pitchFamily="34" charset="-122"/>
                <a:cs typeface="Noto Sans JP" pitchFamily="34" charset="-120"/>
              </a:rPr>
              <a:t>人・予算・品質の管理。レビューが定着</a:t>
            </a:r>
            <a:endParaRPr lang="en-US" sz="1200" dirty="0"/>
          </a:p>
        </p:txBody>
      </p:sp>
      <p:sp>
        <p:nvSpPr>
          <p:cNvPr id="16" name="Shape 14"/>
          <p:cNvSpPr/>
          <p:nvPr/>
        </p:nvSpPr>
        <p:spPr>
          <a:xfrm>
            <a:off x="7244080" y="1934846"/>
            <a:ext cx="1991360" cy="0"/>
          </a:xfrm>
          <a:prstGeom prst="line">
            <a:avLst/>
          </a:prstGeom>
          <a:noFill/>
          <a:ln w="19050">
            <a:solidFill>
              <a:srgbClr val="7A2E36"/>
            </a:solidFill>
            <a:prstDash val="solid"/>
          </a:ln>
        </p:spPr>
      </p:sp>
      <p:sp>
        <p:nvSpPr>
          <p:cNvPr id="17" name="Text 15"/>
          <p:cNvSpPr/>
          <p:nvPr/>
        </p:nvSpPr>
        <p:spPr>
          <a:xfrm>
            <a:off x="7244080" y="2092964"/>
            <a:ext cx="205110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2A37"/>
                </a:solidFill>
                <a:latin typeface="Noto Serif JP" pitchFamily="34" charset="0"/>
                <a:ea typeface="Noto Serif JP" pitchFamily="34" charset="-122"/>
                <a:cs typeface="Noto Serif JP" pitchFamily="34" charset="-120"/>
              </a:rPr>
              <a:t>1990s</a:t>
            </a:r>
            <a:endParaRPr lang="en-US" sz="2000" dirty="0"/>
          </a:p>
        </p:txBody>
      </p:sp>
      <p:sp>
        <p:nvSpPr>
          <p:cNvPr id="18" name="Text 16"/>
          <p:cNvSpPr/>
          <p:nvPr/>
        </p:nvSpPr>
        <p:spPr>
          <a:xfrm>
            <a:off x="7244080" y="2550164"/>
            <a:ext cx="20511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オブジェクト指向</a:t>
            </a:r>
            <a:endParaRPr lang="en-US" sz="1400" dirty="0"/>
          </a:p>
        </p:txBody>
      </p:sp>
      <p:sp>
        <p:nvSpPr>
          <p:cNvPr id="19" name="Text 17"/>
          <p:cNvSpPr/>
          <p:nvPr/>
        </p:nvSpPr>
        <p:spPr>
          <a:xfrm>
            <a:off x="7244080" y="2900679"/>
            <a:ext cx="2051101" cy="5130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4A5563"/>
                </a:solidFill>
                <a:latin typeface="Noto Sans JP" pitchFamily="34" charset="0"/>
                <a:ea typeface="Noto Sans JP" pitchFamily="34" charset="-122"/>
                <a:cs typeface="Noto Sans JP" pitchFamily="34" charset="-120"/>
              </a:rPr>
              <a:t>状態と動作を持つ部品で組み立てる。UML</a:t>
            </a:r>
            <a:endParaRPr lang="en-US" sz="1200" dirty="0"/>
          </a:p>
        </p:txBody>
      </p:sp>
      <p:sp>
        <p:nvSpPr>
          <p:cNvPr id="20" name="Shape 18"/>
          <p:cNvSpPr/>
          <p:nvPr/>
        </p:nvSpPr>
        <p:spPr>
          <a:xfrm>
            <a:off x="9387840" y="1934846"/>
            <a:ext cx="1991360" cy="0"/>
          </a:xfrm>
          <a:prstGeom prst="line">
            <a:avLst/>
          </a:prstGeom>
          <a:noFill/>
          <a:ln w="19050">
            <a:solidFill>
              <a:srgbClr val="7A2E36"/>
            </a:solidFill>
            <a:prstDash val="solid"/>
          </a:ln>
        </p:spPr>
      </p:sp>
      <p:sp>
        <p:nvSpPr>
          <p:cNvPr id="21" name="Text 19"/>
          <p:cNvSpPr/>
          <p:nvPr/>
        </p:nvSpPr>
        <p:spPr>
          <a:xfrm>
            <a:off x="9387840" y="2092964"/>
            <a:ext cx="2051101"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2A37"/>
                </a:solidFill>
                <a:latin typeface="Noto Serif JP" pitchFamily="34" charset="0"/>
                <a:ea typeface="Noto Serif JP" pitchFamily="34" charset="-122"/>
                <a:cs typeface="Noto Serif JP" pitchFamily="34" charset="-120"/>
              </a:rPr>
              <a:t>現在</a:t>
            </a:r>
            <a:endParaRPr lang="en-US" sz="2000" dirty="0"/>
          </a:p>
        </p:txBody>
      </p:sp>
      <p:sp>
        <p:nvSpPr>
          <p:cNvPr id="22" name="Text 20"/>
          <p:cNvSpPr/>
          <p:nvPr/>
        </p:nvSpPr>
        <p:spPr>
          <a:xfrm>
            <a:off x="9387840" y="2550164"/>
            <a:ext cx="20511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アジャイル</a:t>
            </a:r>
            <a:endParaRPr lang="en-US" sz="1400" dirty="0"/>
          </a:p>
        </p:txBody>
      </p:sp>
      <p:sp>
        <p:nvSpPr>
          <p:cNvPr id="23" name="Text 21"/>
          <p:cNvSpPr/>
          <p:nvPr/>
        </p:nvSpPr>
        <p:spPr>
          <a:xfrm>
            <a:off x="9387840" y="2900679"/>
            <a:ext cx="2051101" cy="26924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4A5563"/>
                </a:solidFill>
                <a:latin typeface="Noto Sans JP" pitchFamily="34" charset="0"/>
                <a:ea typeface="Noto Sans JP" pitchFamily="34" charset="-122"/>
                <a:cs typeface="Noto Sans JP" pitchFamily="34" charset="-120"/>
              </a:rPr>
              <a:t>速い変化を素早く受け入れる</a:t>
            </a:r>
            <a:endParaRPr lang="en-US" sz="1200" dirty="0"/>
          </a:p>
        </p:txBody>
      </p:sp>
      <p:sp>
        <p:nvSpPr>
          <p:cNvPr id="24" name="Text 22"/>
          <p:cNvSpPr/>
          <p:nvPr/>
        </p:nvSpPr>
        <p:spPr>
          <a:xfrm>
            <a:off x="812800" y="3743964"/>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2A37"/>
                </a:solidFill>
                <a:latin typeface="Noto Serif JP" pitchFamily="34" charset="0"/>
                <a:ea typeface="Noto Serif JP" pitchFamily="34" charset="-122"/>
                <a:cs typeface="Noto Serif JP" pitchFamily="34" charset="-120"/>
              </a:rPr>
              <a:t>大きなものを大勢で作るには、決まったやり方が要る。</a:t>
            </a:r>
            <a:endParaRPr lang="en-US" sz="2000" dirty="0"/>
          </a:p>
        </p:txBody>
      </p:sp>
      <p:sp>
        <p:nvSpPr>
          <p:cNvPr id="25" name="Text 2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システム開発（基礎）第1回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A37"/>
        </a:solidFill>
      </p:bgPr>
    </p:bg>
    <p:spTree>
      <p:nvGrpSpPr>
        <p:cNvPr id="1" name=""/>
        <p:cNvGrpSpPr/>
        <p:nvPr/>
      </p:nvGrpSpPr>
      <p:grpSpPr>
        <a:xfrm>
          <a:off x="0" y="0"/>
          <a:ext cx="0" cy="0"/>
          <a:chOff x="0" y="0"/>
          <a:chExt cx="0" cy="0"/>
        </a:xfrm>
      </p:grpSpPr>
      <p:sp>
        <p:nvSpPr>
          <p:cNvPr id="2" name="Text 0"/>
          <p:cNvSpPr/>
          <p:nvPr/>
        </p:nvSpPr>
        <p:spPr>
          <a:xfrm>
            <a:off x="812800" y="21767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D9A7A0"/>
                </a:solidFill>
                <a:latin typeface="Noto Sans JP" pitchFamily="34" charset="0"/>
                <a:ea typeface="Noto Sans JP" pitchFamily="34" charset="-122"/>
                <a:cs typeface="Noto Sans JP" pitchFamily="34" charset="-120"/>
              </a:rPr>
              <a:t>講義 ③　p.014</a:t>
            </a:r>
            <a:endParaRPr lang="en-US" sz="1400" dirty="0"/>
          </a:p>
        </p:txBody>
      </p:sp>
      <p:sp>
        <p:nvSpPr>
          <p:cNvPr id="3" name="Text 1"/>
          <p:cNvSpPr/>
          <p:nvPr/>
        </p:nvSpPr>
        <p:spPr>
          <a:xfrm>
            <a:off x="812800" y="2679700"/>
            <a:ext cx="10883392" cy="14478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FAF9F6"/>
                </a:solidFill>
                <a:latin typeface="Noto Serif JP" pitchFamily="34" charset="0"/>
                <a:ea typeface="Noto Serif JP" pitchFamily="34" charset="-122"/>
                <a:cs typeface="Noto Serif JP" pitchFamily="34" charset="-120"/>
              </a:rPr>
              <a:t>設計図なしに、</a:t>
            </a:r>
            <a:endParaRPr lang="en-US" sz="4000" dirty="0"/>
          </a:p>
          <a:p>
            <a:pPr algn="l" indent="0" marL="0">
              <a:lnSpc>
                <a:spcPts val="5600"/>
              </a:lnSpc>
              <a:buNone/>
            </a:pPr>
            <a:r>
              <a:rPr lang="en-US" sz="4000" b="1" dirty="0">
                <a:solidFill>
                  <a:srgbClr val="FAF9F6"/>
                </a:solidFill>
                <a:latin typeface="Noto Serif JP" pitchFamily="34" charset="0"/>
                <a:ea typeface="Noto Serif JP" pitchFamily="34" charset="-122"/>
                <a:cs typeface="Noto Serif JP" pitchFamily="34" charset="-120"/>
              </a:rPr>
              <a:t>家を建てる大工はいない。</a:t>
            </a:r>
            <a:endParaRPr lang="en-US" sz="4000" dirty="0"/>
          </a:p>
        </p:txBody>
      </p:sp>
      <p:sp>
        <p:nvSpPr>
          <p:cNvPr id="4" name="Text 2"/>
          <p:cNvSpPr/>
          <p:nvPr/>
        </p:nvSpPr>
        <p:spPr>
          <a:xfrm>
            <a:off x="812800" y="4356100"/>
            <a:ext cx="10883392" cy="350520"/>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C9CED6"/>
                </a:solidFill>
                <a:latin typeface="Noto Sans JP" pitchFamily="34" charset="0"/>
                <a:ea typeface="Noto Sans JP" pitchFamily="34" charset="-122"/>
                <a:cs typeface="Noto Sans JP" pitchFamily="34" charset="-120"/>
              </a:rPr>
              <a:t>プログラミングは現場の建築作業。その前に、設計図が要る。</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E36"/>
                </a:solidFill>
                <a:latin typeface="Noto Sans JP" pitchFamily="34" charset="0"/>
                <a:ea typeface="Noto Sans JP" pitchFamily="34" charset="-122"/>
                <a:cs typeface="Noto Sans JP" pitchFamily="34" charset="-120"/>
              </a:rPr>
              <a:t>講義 ③　p.014〜017</a:t>
            </a:r>
            <a:endParaRPr lang="en-US" sz="1200" dirty="0"/>
          </a:p>
        </p:txBody>
      </p:sp>
      <p:sp>
        <p:nvSpPr>
          <p:cNvPr id="3" name="Text 1"/>
          <p:cNvSpPr/>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37"/>
                </a:solidFill>
                <a:latin typeface="Noto Serif JP" pitchFamily="34" charset="0"/>
                <a:ea typeface="Noto Serif JP" pitchFamily="34" charset="-122"/>
                <a:cs typeface="Noto Serif JP" pitchFamily="34" charset="-120"/>
              </a:rPr>
              <a:t>分析と設計は、車の両輪</a:t>
            </a:r>
            <a:endParaRPr lang="en-US" sz="3200" dirty="0"/>
          </a:p>
        </p:txBody>
      </p:sp>
      <p:sp>
        <p:nvSpPr>
          <p:cNvPr id="4" name="Shape 2"/>
          <p:cNvSpPr/>
          <p:nvPr/>
        </p:nvSpPr>
        <p:spPr>
          <a:xfrm>
            <a:off x="815975" y="1928496"/>
            <a:ext cx="4819650" cy="1964690"/>
          </a:xfrm>
          <a:prstGeom prst="rect">
            <a:avLst/>
          </a:prstGeom>
          <a:noFill/>
          <a:ln w="6350">
            <a:solidFill>
              <a:srgbClr val="D6D3CC"/>
            </a:solidFill>
            <a:prstDash val="solid"/>
          </a:ln>
        </p:spPr>
      </p:sp>
      <p:sp>
        <p:nvSpPr>
          <p:cNvPr id="5" name="Text 3"/>
          <p:cNvSpPr/>
          <p:nvPr/>
        </p:nvSpPr>
        <p:spPr>
          <a:xfrm>
            <a:off x="1122680" y="2235200"/>
            <a:ext cx="43324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E36"/>
                </a:solidFill>
                <a:latin typeface="Noto Sans JP" pitchFamily="34" charset="0"/>
                <a:ea typeface="Noto Sans JP" pitchFamily="34" charset="-122"/>
                <a:cs typeface="Noto Sans JP" pitchFamily="34" charset="-120"/>
              </a:rPr>
              <a:t>分析</a:t>
            </a:r>
            <a:endParaRPr lang="en-US" sz="1200" dirty="0"/>
          </a:p>
        </p:txBody>
      </p:sp>
      <p:sp>
        <p:nvSpPr>
          <p:cNvPr id="6" name="Text 4"/>
          <p:cNvSpPr/>
          <p:nvPr/>
        </p:nvSpPr>
        <p:spPr>
          <a:xfrm>
            <a:off x="1122680" y="2550164"/>
            <a:ext cx="4332427" cy="39116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F2A37"/>
                </a:solidFill>
                <a:latin typeface="Noto Serif JP" pitchFamily="34" charset="0"/>
                <a:ea typeface="Noto Serif JP" pitchFamily="34" charset="-122"/>
                <a:cs typeface="Noto Serif JP" pitchFamily="34" charset="-120"/>
              </a:rPr>
              <a:t>何を作るのか</a:t>
            </a:r>
            <a:endParaRPr lang="en-US" sz="2400" dirty="0"/>
          </a:p>
        </p:txBody>
      </p:sp>
      <p:sp>
        <p:nvSpPr>
          <p:cNvPr id="7" name="Text 5"/>
          <p:cNvSpPr/>
          <p:nvPr/>
        </p:nvSpPr>
        <p:spPr>
          <a:xfrm>
            <a:off x="1122680" y="3017521"/>
            <a:ext cx="4332427" cy="5943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4A5563"/>
                </a:solidFill>
                <a:latin typeface="Noto Sans JP" pitchFamily="34" charset="0"/>
                <a:ea typeface="Noto Sans JP" pitchFamily="34" charset="-122"/>
                <a:cs typeface="Noto Sans JP" pitchFamily="34" charset="-120"/>
              </a:rPr>
              <a:t>顧客の要望や今の業務を調べ、必要な機能を整理する</a:t>
            </a:r>
            <a:endParaRPr lang="en-US" sz="1400" dirty="0"/>
          </a:p>
        </p:txBody>
      </p:sp>
      <p:pic>
        <p:nvPicPr>
          <p:cNvPr id="8" name="Image 0" descr="arrow-right">    </p:cNvPr>
          <p:cNvPicPr>
            <a:picLocks noChangeAspect="1"/>
          </p:cNvPicPr>
          <p:nvPr/>
        </p:nvPicPr>
        <p:blipFill>
          <a:blip r:embed="rId1"/>
          <a:srcRect l="0" r="0" t="0" b="0"/>
          <a:stretch/>
        </p:blipFill>
        <p:spPr>
          <a:xfrm>
            <a:off x="5842000" y="2783842"/>
            <a:ext cx="508000" cy="254000"/>
          </a:xfrm>
          <a:prstGeom prst="rect">
            <a:avLst/>
          </a:prstGeom>
        </p:spPr>
      </p:pic>
      <p:sp>
        <p:nvSpPr>
          <p:cNvPr id="9" name="Shape 6"/>
          <p:cNvSpPr/>
          <p:nvPr/>
        </p:nvSpPr>
        <p:spPr>
          <a:xfrm>
            <a:off x="6556375" y="1928496"/>
            <a:ext cx="4819650" cy="1964690"/>
          </a:xfrm>
          <a:prstGeom prst="rect">
            <a:avLst/>
          </a:prstGeom>
          <a:noFill/>
          <a:ln w="6350">
            <a:solidFill>
              <a:srgbClr val="D6D3CC"/>
            </a:solidFill>
            <a:prstDash val="solid"/>
          </a:ln>
        </p:spPr>
      </p:sp>
      <p:sp>
        <p:nvSpPr>
          <p:cNvPr id="10" name="Text 7"/>
          <p:cNvSpPr/>
          <p:nvPr/>
        </p:nvSpPr>
        <p:spPr>
          <a:xfrm>
            <a:off x="6863080" y="2235200"/>
            <a:ext cx="43324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E36"/>
                </a:solidFill>
                <a:latin typeface="Noto Sans JP" pitchFamily="34" charset="0"/>
                <a:ea typeface="Noto Sans JP" pitchFamily="34" charset="-122"/>
                <a:cs typeface="Noto Sans JP" pitchFamily="34" charset="-120"/>
              </a:rPr>
              <a:t>設計</a:t>
            </a:r>
            <a:endParaRPr lang="en-US" sz="1200" dirty="0"/>
          </a:p>
        </p:txBody>
      </p:sp>
      <p:sp>
        <p:nvSpPr>
          <p:cNvPr id="11" name="Text 8"/>
          <p:cNvSpPr/>
          <p:nvPr/>
        </p:nvSpPr>
        <p:spPr>
          <a:xfrm>
            <a:off x="6863080" y="2550164"/>
            <a:ext cx="4332427" cy="39116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F2A37"/>
                </a:solidFill>
                <a:latin typeface="Noto Serif JP" pitchFamily="34" charset="0"/>
                <a:ea typeface="Noto Serif JP" pitchFamily="34" charset="-122"/>
                <a:cs typeface="Noto Serif JP" pitchFamily="34" charset="-120"/>
              </a:rPr>
              <a:t>どのように作るのか</a:t>
            </a:r>
            <a:endParaRPr lang="en-US" sz="2400" dirty="0"/>
          </a:p>
        </p:txBody>
      </p:sp>
      <p:sp>
        <p:nvSpPr>
          <p:cNvPr id="12" name="Text 9"/>
          <p:cNvSpPr/>
          <p:nvPr/>
        </p:nvSpPr>
        <p:spPr>
          <a:xfrm>
            <a:off x="6863080" y="3017521"/>
            <a:ext cx="4332427" cy="5943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4A5563"/>
                </a:solidFill>
                <a:latin typeface="Noto Sans JP" pitchFamily="34" charset="0"/>
                <a:ea typeface="Noto Sans JP" pitchFamily="34" charset="-122"/>
                <a:cs typeface="Noto Sans JP" pitchFamily="34" charset="-120"/>
              </a:rPr>
              <a:t>整理した機能を、どんな形でプログラムにするか決める</a:t>
            </a:r>
            <a:endParaRPr lang="en-US" sz="1400" dirty="0"/>
          </a:p>
        </p:txBody>
      </p:sp>
      <p:sp>
        <p:nvSpPr>
          <p:cNvPr id="13" name="Shape 10"/>
          <p:cNvSpPr/>
          <p:nvPr/>
        </p:nvSpPr>
        <p:spPr>
          <a:xfrm>
            <a:off x="812800" y="4251964"/>
            <a:ext cx="10566400" cy="690880"/>
          </a:xfrm>
          <a:prstGeom prst="rect">
            <a:avLst/>
          </a:prstGeom>
          <a:solidFill>
            <a:srgbClr val="F1EFE9"/>
          </a:solidFill>
          <a:ln/>
        </p:spPr>
      </p:sp>
      <p:sp>
        <p:nvSpPr>
          <p:cNvPr id="14" name="Text 11"/>
          <p:cNvSpPr/>
          <p:nvPr/>
        </p:nvSpPr>
        <p:spPr>
          <a:xfrm>
            <a:off x="1117600" y="4490721"/>
            <a:ext cx="7195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図1.1の例</a:t>
            </a:r>
            <a:endParaRPr lang="en-US" sz="1200" dirty="0"/>
          </a:p>
        </p:txBody>
      </p:sp>
      <p:sp>
        <p:nvSpPr>
          <p:cNvPr id="15" name="Text 12"/>
          <p:cNvSpPr/>
          <p:nvPr/>
        </p:nvSpPr>
        <p:spPr>
          <a:xfrm>
            <a:off x="1938734" y="4455164"/>
            <a:ext cx="417970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Noto Sans JP" pitchFamily="34" charset="0"/>
                <a:ea typeface="Noto Sans JP" pitchFamily="34" charset="-122"/>
                <a:cs typeface="Noto Sans JP" pitchFamily="34" charset="-120"/>
              </a:rPr>
              <a:t>業務手順書　→　システム要件　→　設計書</a:t>
            </a:r>
            <a:endParaRPr lang="en-US" sz="1600" dirty="0"/>
          </a:p>
        </p:txBody>
      </p:sp>
      <p:sp>
        <p:nvSpPr>
          <p:cNvPr id="16"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大きいものは小さく分けて考える（構造化の考え方、p.016〜017）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E36"/>
                </a:solidFill>
                <a:latin typeface="Noto Sans JP" pitchFamily="34" charset="0"/>
                <a:ea typeface="Noto Sans JP" pitchFamily="34" charset="-122"/>
                <a:cs typeface="Noto Sans JP" pitchFamily="34" charset="-120"/>
              </a:rPr>
              <a:t>講義 ③　p.018〜020</a:t>
            </a:r>
            <a:endParaRPr lang="en-US" sz="1200" dirty="0"/>
          </a:p>
        </p:txBody>
      </p:sp>
      <p:sp>
        <p:nvSpPr>
          <p:cNvPr id="3" name="Text 1"/>
          <p:cNvSpPr/>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37"/>
                </a:solidFill>
                <a:latin typeface="Noto Serif JP" pitchFamily="34" charset="0"/>
                <a:ea typeface="Noto Serif JP" pitchFamily="34" charset="-122"/>
                <a:cs typeface="Noto Serif JP" pitchFamily="34" charset="-120"/>
              </a:rPr>
              <a:t>各工程には、必ず成果物がある</a:t>
            </a:r>
            <a:endParaRPr lang="en-US" sz="3200" dirty="0"/>
          </a:p>
        </p:txBody>
      </p:sp>
      <p:sp>
        <p:nvSpPr>
          <p:cNvPr id="4" name="Shape 2"/>
          <p:cNvSpPr/>
          <p:nvPr/>
        </p:nvSpPr>
        <p:spPr>
          <a:xfrm>
            <a:off x="812800" y="2117091"/>
            <a:ext cx="5181600" cy="0"/>
          </a:xfrm>
          <a:prstGeom prst="line">
            <a:avLst/>
          </a:prstGeom>
          <a:noFill/>
          <a:ln w="12700">
            <a:solidFill>
              <a:srgbClr val="7A2E36"/>
            </a:solidFill>
            <a:prstDash val="solid"/>
          </a:ln>
        </p:spPr>
      </p:sp>
      <p:sp>
        <p:nvSpPr>
          <p:cNvPr id="5" name="Text 3"/>
          <p:cNvSpPr/>
          <p:nvPr/>
        </p:nvSpPr>
        <p:spPr>
          <a:xfrm>
            <a:off x="812800" y="1823721"/>
            <a:ext cx="53370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E36"/>
                </a:solidFill>
                <a:latin typeface="Noto Sans JP" pitchFamily="34" charset="0"/>
                <a:ea typeface="Noto Sans JP" pitchFamily="34" charset="-122"/>
                <a:cs typeface="Noto Sans JP" pitchFamily="34" charset="-120"/>
              </a:rPr>
              <a:t>上流工程：要望を仕様に落とし込む</a:t>
            </a:r>
            <a:endParaRPr lang="en-US" sz="1200" dirty="0"/>
          </a:p>
        </p:txBody>
      </p:sp>
      <p:sp>
        <p:nvSpPr>
          <p:cNvPr id="6" name="Shape 4"/>
          <p:cNvSpPr/>
          <p:nvPr/>
        </p:nvSpPr>
        <p:spPr>
          <a:xfrm>
            <a:off x="6197600" y="2117091"/>
            <a:ext cx="5181600" cy="0"/>
          </a:xfrm>
          <a:prstGeom prst="line">
            <a:avLst/>
          </a:prstGeom>
          <a:noFill/>
          <a:ln w="12700">
            <a:solidFill>
              <a:srgbClr val="9AA1AB"/>
            </a:solidFill>
            <a:prstDash val="solid"/>
          </a:ln>
        </p:spPr>
      </p:sp>
      <p:sp>
        <p:nvSpPr>
          <p:cNvPr id="7" name="Text 5"/>
          <p:cNvSpPr/>
          <p:nvPr/>
        </p:nvSpPr>
        <p:spPr>
          <a:xfrm>
            <a:off x="6197600" y="1823721"/>
            <a:ext cx="53370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Noto Sans JP" pitchFamily="34" charset="0"/>
                <a:ea typeface="Noto Sans JP" pitchFamily="34" charset="-122"/>
                <a:cs typeface="Noto Sans JP" pitchFamily="34" charset="-120"/>
              </a:rPr>
              <a:t>下流工程：仕様を形にして確かめる</a:t>
            </a:r>
            <a:endParaRPr lang="en-US" sz="1200" dirty="0"/>
          </a:p>
        </p:txBody>
      </p:sp>
      <p:sp>
        <p:nvSpPr>
          <p:cNvPr id="8" name="Shape 6"/>
          <p:cNvSpPr/>
          <p:nvPr/>
        </p:nvSpPr>
        <p:spPr>
          <a:xfrm>
            <a:off x="815975" y="2380617"/>
            <a:ext cx="2559050" cy="1588770"/>
          </a:xfrm>
          <a:prstGeom prst="rect">
            <a:avLst/>
          </a:prstGeom>
          <a:noFill/>
          <a:ln w="6350">
            <a:solidFill>
              <a:srgbClr val="D6D3CC"/>
            </a:solidFill>
            <a:prstDash val="solid"/>
          </a:ln>
        </p:spPr>
      </p:sp>
      <p:sp>
        <p:nvSpPr>
          <p:cNvPr id="9" name="Text 7"/>
          <p:cNvSpPr/>
          <p:nvPr/>
        </p:nvSpPr>
        <p:spPr>
          <a:xfrm>
            <a:off x="1021080" y="2585721"/>
            <a:ext cx="221330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Noto Serif JP" pitchFamily="34" charset="0"/>
                <a:ea typeface="Noto Serif JP" pitchFamily="34" charset="-122"/>
                <a:cs typeface="Noto Serif JP" pitchFamily="34" charset="-120"/>
              </a:rPr>
              <a:t>要求・要件定義</a:t>
            </a:r>
            <a:endParaRPr lang="en-US" sz="1800" dirty="0"/>
          </a:p>
        </p:txBody>
      </p:sp>
      <p:sp>
        <p:nvSpPr>
          <p:cNvPr id="10" name="Text 8"/>
          <p:cNvSpPr/>
          <p:nvPr/>
        </p:nvSpPr>
        <p:spPr>
          <a:xfrm>
            <a:off x="1021080" y="2961642"/>
            <a:ext cx="2213305" cy="5130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4A5563"/>
                </a:solidFill>
                <a:latin typeface="Noto Sans JP" pitchFamily="34" charset="0"/>
                <a:ea typeface="Noto Sans JP" pitchFamily="34" charset="-122"/>
                <a:cs typeface="Noto Sans JP" pitchFamily="34" charset="-120"/>
              </a:rPr>
              <a:t>要望を調べ、実装すべき機能を決める</a:t>
            </a:r>
            <a:endParaRPr lang="en-US" sz="1200" dirty="0"/>
          </a:p>
        </p:txBody>
      </p:sp>
      <p:sp>
        <p:nvSpPr>
          <p:cNvPr id="11" name="Text 9"/>
          <p:cNvSpPr/>
          <p:nvPr/>
        </p:nvSpPr>
        <p:spPr>
          <a:xfrm>
            <a:off x="1021080" y="3550921"/>
            <a:ext cx="22133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2E36"/>
                </a:solidFill>
                <a:latin typeface="Noto Sans JP" pitchFamily="34" charset="0"/>
                <a:ea typeface="Noto Sans JP" pitchFamily="34" charset="-122"/>
                <a:cs typeface="Noto Sans JP" pitchFamily="34" charset="-120"/>
              </a:rPr>
              <a:t>→ 要件定義書</a:t>
            </a:r>
            <a:endParaRPr lang="en-US" sz="1200" dirty="0"/>
          </a:p>
        </p:txBody>
      </p:sp>
      <p:sp>
        <p:nvSpPr>
          <p:cNvPr id="12" name="Shape 10"/>
          <p:cNvSpPr/>
          <p:nvPr/>
        </p:nvSpPr>
        <p:spPr>
          <a:xfrm>
            <a:off x="3482975" y="2380617"/>
            <a:ext cx="2559050" cy="1588770"/>
          </a:xfrm>
          <a:prstGeom prst="rect">
            <a:avLst/>
          </a:prstGeom>
          <a:noFill/>
          <a:ln w="6350">
            <a:solidFill>
              <a:srgbClr val="D6D3CC"/>
            </a:solidFill>
            <a:prstDash val="solid"/>
          </a:ln>
        </p:spPr>
      </p:sp>
      <p:sp>
        <p:nvSpPr>
          <p:cNvPr id="13" name="Text 11"/>
          <p:cNvSpPr/>
          <p:nvPr/>
        </p:nvSpPr>
        <p:spPr>
          <a:xfrm>
            <a:off x="3688080" y="2585721"/>
            <a:ext cx="221330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Noto Serif JP" pitchFamily="34" charset="0"/>
                <a:ea typeface="Noto Serif JP" pitchFamily="34" charset="-122"/>
                <a:cs typeface="Noto Serif JP" pitchFamily="34" charset="-120"/>
              </a:rPr>
              <a:t>設計</a:t>
            </a:r>
            <a:endParaRPr lang="en-US" sz="1800" dirty="0"/>
          </a:p>
        </p:txBody>
      </p:sp>
      <p:sp>
        <p:nvSpPr>
          <p:cNvPr id="14" name="Text 12"/>
          <p:cNvSpPr/>
          <p:nvPr/>
        </p:nvSpPr>
        <p:spPr>
          <a:xfrm>
            <a:off x="3688080" y="2961642"/>
            <a:ext cx="2213305" cy="5130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4A5563"/>
                </a:solidFill>
                <a:latin typeface="Noto Sans JP" pitchFamily="34" charset="0"/>
                <a:ea typeface="Noto Sans JP" pitchFamily="34" charset="-122"/>
                <a:cs typeface="Noto Sans JP" pitchFamily="34" charset="-120"/>
              </a:rPr>
              <a:t>画面・入出力・内部処理の仕様を決める</a:t>
            </a:r>
            <a:endParaRPr lang="en-US" sz="1200" dirty="0"/>
          </a:p>
        </p:txBody>
      </p:sp>
      <p:sp>
        <p:nvSpPr>
          <p:cNvPr id="15" name="Text 13"/>
          <p:cNvSpPr/>
          <p:nvPr/>
        </p:nvSpPr>
        <p:spPr>
          <a:xfrm>
            <a:off x="3688080" y="3550921"/>
            <a:ext cx="22133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2E36"/>
                </a:solidFill>
                <a:latin typeface="Noto Sans JP" pitchFamily="34" charset="0"/>
                <a:ea typeface="Noto Sans JP" pitchFamily="34" charset="-122"/>
                <a:cs typeface="Noto Sans JP" pitchFamily="34" charset="-120"/>
              </a:rPr>
              <a:t>→ 設計書</a:t>
            </a:r>
            <a:endParaRPr lang="en-US" sz="1200" dirty="0"/>
          </a:p>
        </p:txBody>
      </p:sp>
      <p:sp>
        <p:nvSpPr>
          <p:cNvPr id="16" name="Shape 14"/>
          <p:cNvSpPr/>
          <p:nvPr/>
        </p:nvSpPr>
        <p:spPr>
          <a:xfrm>
            <a:off x="6149975" y="2380617"/>
            <a:ext cx="2559050" cy="1588770"/>
          </a:xfrm>
          <a:prstGeom prst="rect">
            <a:avLst/>
          </a:prstGeom>
          <a:noFill/>
          <a:ln w="6350">
            <a:solidFill>
              <a:srgbClr val="D6D3CC"/>
            </a:solidFill>
            <a:prstDash val="solid"/>
          </a:ln>
        </p:spPr>
      </p:sp>
      <p:sp>
        <p:nvSpPr>
          <p:cNvPr id="17" name="Text 15"/>
          <p:cNvSpPr/>
          <p:nvPr/>
        </p:nvSpPr>
        <p:spPr>
          <a:xfrm>
            <a:off x="6355080" y="2585721"/>
            <a:ext cx="221330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Noto Serif JP" pitchFamily="34" charset="0"/>
                <a:ea typeface="Noto Serif JP" pitchFamily="34" charset="-122"/>
                <a:cs typeface="Noto Serif JP" pitchFamily="34" charset="-120"/>
              </a:rPr>
              <a:t>製造</a:t>
            </a:r>
            <a:endParaRPr lang="en-US" sz="1800" dirty="0"/>
          </a:p>
        </p:txBody>
      </p:sp>
      <p:sp>
        <p:nvSpPr>
          <p:cNvPr id="18" name="Text 16"/>
          <p:cNvSpPr/>
          <p:nvPr/>
        </p:nvSpPr>
        <p:spPr>
          <a:xfrm>
            <a:off x="6355080" y="2961642"/>
            <a:ext cx="2213305" cy="5130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4A5563"/>
                </a:solidFill>
                <a:latin typeface="Noto Sans JP" pitchFamily="34" charset="0"/>
                <a:ea typeface="Noto Sans JP" pitchFamily="34" charset="-122"/>
                <a:cs typeface="Noto Sans JP" pitchFamily="34" charset="-120"/>
              </a:rPr>
              <a:t>設計書をもとにプログラムを作る</a:t>
            </a:r>
            <a:endParaRPr lang="en-US" sz="1200" dirty="0"/>
          </a:p>
        </p:txBody>
      </p:sp>
      <p:sp>
        <p:nvSpPr>
          <p:cNvPr id="19" name="Text 17"/>
          <p:cNvSpPr/>
          <p:nvPr/>
        </p:nvSpPr>
        <p:spPr>
          <a:xfrm>
            <a:off x="6355080" y="3550921"/>
            <a:ext cx="22133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3"/>
                </a:solidFill>
                <a:latin typeface="Noto Sans JP" pitchFamily="34" charset="0"/>
                <a:ea typeface="Noto Sans JP" pitchFamily="34" charset="-122"/>
                <a:cs typeface="Noto Sans JP" pitchFamily="34" charset="-120"/>
              </a:rPr>
              <a:t>→ プログラム</a:t>
            </a:r>
            <a:endParaRPr lang="en-US" sz="1200" dirty="0"/>
          </a:p>
        </p:txBody>
      </p:sp>
      <p:sp>
        <p:nvSpPr>
          <p:cNvPr id="20" name="Shape 18"/>
          <p:cNvSpPr/>
          <p:nvPr/>
        </p:nvSpPr>
        <p:spPr>
          <a:xfrm>
            <a:off x="8816975" y="2380617"/>
            <a:ext cx="2559050" cy="1588770"/>
          </a:xfrm>
          <a:prstGeom prst="rect">
            <a:avLst/>
          </a:prstGeom>
          <a:noFill/>
          <a:ln w="6350">
            <a:solidFill>
              <a:srgbClr val="D6D3CC"/>
            </a:solidFill>
            <a:prstDash val="solid"/>
          </a:ln>
        </p:spPr>
      </p:sp>
      <p:sp>
        <p:nvSpPr>
          <p:cNvPr id="21" name="Text 19"/>
          <p:cNvSpPr/>
          <p:nvPr/>
        </p:nvSpPr>
        <p:spPr>
          <a:xfrm>
            <a:off x="9022080" y="2585721"/>
            <a:ext cx="221330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Noto Serif JP" pitchFamily="34" charset="0"/>
                <a:ea typeface="Noto Serif JP" pitchFamily="34" charset="-122"/>
                <a:cs typeface="Noto Serif JP" pitchFamily="34" charset="-120"/>
              </a:rPr>
              <a:t>テスト</a:t>
            </a:r>
            <a:endParaRPr lang="en-US" sz="1800" dirty="0"/>
          </a:p>
        </p:txBody>
      </p:sp>
      <p:sp>
        <p:nvSpPr>
          <p:cNvPr id="22" name="Text 20"/>
          <p:cNvSpPr/>
          <p:nvPr/>
        </p:nvSpPr>
        <p:spPr>
          <a:xfrm>
            <a:off x="9022080" y="2961642"/>
            <a:ext cx="2213305" cy="5130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4A5563"/>
                </a:solidFill>
                <a:latin typeface="Noto Sans JP" pitchFamily="34" charset="0"/>
                <a:ea typeface="Noto Sans JP" pitchFamily="34" charset="-122"/>
                <a:cs typeface="Noto Sans JP" pitchFamily="34" charset="-120"/>
              </a:rPr>
              <a:t>仕様書どおりにできているか確かめる</a:t>
            </a:r>
            <a:endParaRPr lang="en-US" sz="1200" dirty="0"/>
          </a:p>
        </p:txBody>
      </p:sp>
      <p:sp>
        <p:nvSpPr>
          <p:cNvPr id="23" name="Text 21"/>
          <p:cNvSpPr/>
          <p:nvPr/>
        </p:nvSpPr>
        <p:spPr>
          <a:xfrm>
            <a:off x="9022080" y="3550921"/>
            <a:ext cx="22133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3"/>
                </a:solidFill>
                <a:latin typeface="Noto Sans JP" pitchFamily="34" charset="0"/>
                <a:ea typeface="Noto Sans JP" pitchFamily="34" charset="-122"/>
                <a:cs typeface="Noto Sans JP" pitchFamily="34" charset="-120"/>
              </a:rPr>
              <a:t>→ テストの記録</a:t>
            </a:r>
            <a:endParaRPr lang="en-US" sz="1200" dirty="0"/>
          </a:p>
        </p:txBody>
      </p:sp>
      <p:sp>
        <p:nvSpPr>
          <p:cNvPr id="24" name="Text 22"/>
          <p:cNvSpPr/>
          <p:nvPr/>
        </p:nvSpPr>
        <p:spPr>
          <a:xfrm>
            <a:off x="812800" y="4226564"/>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2A37"/>
                </a:solidFill>
                <a:latin typeface="Noto Serif JP" pitchFamily="34" charset="0"/>
                <a:ea typeface="Noto Serif JP" pitchFamily="34" charset="-122"/>
                <a:cs typeface="Noto Serif JP" pitchFamily="34" charset="-120"/>
              </a:rPr>
              <a:t>成果物は、次の工程へ仕事を渡す「バトン」。</a:t>
            </a:r>
            <a:endParaRPr lang="en-US" sz="2000" dirty="0"/>
          </a:p>
        </p:txBody>
      </p:sp>
      <p:sp>
        <p:nvSpPr>
          <p:cNvPr id="25" name="Text 2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図1.3・図1.4（p.018〜020）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E36"/>
                </a:solidFill>
                <a:latin typeface="Noto Sans JP" pitchFamily="34" charset="0"/>
                <a:ea typeface="Noto Sans JP" pitchFamily="34" charset="-122"/>
                <a:cs typeface="Noto Sans JP" pitchFamily="34" charset="-120"/>
              </a:rPr>
              <a:t>コース全体マップ</a:t>
            </a:r>
            <a:endParaRPr lang="en-US" sz="1200" dirty="0"/>
          </a:p>
        </p:txBody>
      </p:sp>
      <p:sp>
        <p:nvSpPr>
          <p:cNvPr id="3" name="Text 1"/>
          <p:cNvSpPr/>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37"/>
                </a:solidFill>
                <a:latin typeface="Noto Serif JP" pitchFamily="34" charset="0"/>
                <a:ea typeface="Noto Serif JP" pitchFamily="34" charset="-122"/>
                <a:cs typeface="Noto Serif JP" pitchFamily="34" charset="-120"/>
              </a:rPr>
              <a:t>15回の地図</a:t>
            </a:r>
            <a:endParaRPr lang="en-US" sz="3200" dirty="0"/>
          </a:p>
        </p:txBody>
      </p:sp>
      <p:sp>
        <p:nvSpPr>
          <p:cNvPr id="4" name="Shape 2"/>
          <p:cNvSpPr/>
          <p:nvPr/>
        </p:nvSpPr>
        <p:spPr>
          <a:xfrm>
            <a:off x="1019175" y="2098675"/>
            <a:ext cx="2533650" cy="450850"/>
          </a:xfrm>
          <a:prstGeom prst="rect">
            <a:avLst/>
          </a:prstGeom>
          <a:solidFill>
            <a:srgbClr val="F6EEEC"/>
          </a:solidFill>
          <a:ln w="6350">
            <a:solidFill>
              <a:srgbClr val="7A2E36"/>
            </a:solidFill>
            <a:prstDash val="solid"/>
          </a:ln>
        </p:spPr>
      </p:sp>
      <p:sp>
        <p:nvSpPr>
          <p:cNvPr id="5" name="Text 3"/>
          <p:cNvSpPr/>
          <p:nvPr/>
        </p:nvSpPr>
        <p:spPr>
          <a:xfrm>
            <a:off x="1198880" y="2199642"/>
            <a:ext cx="762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要求定義</a:t>
            </a:r>
            <a:endParaRPr lang="en-US" sz="1400" dirty="0"/>
          </a:p>
        </p:txBody>
      </p:sp>
      <p:sp>
        <p:nvSpPr>
          <p:cNvPr id="6" name="Text 4"/>
          <p:cNvSpPr/>
          <p:nvPr/>
        </p:nvSpPr>
        <p:spPr>
          <a:xfrm>
            <a:off x="2983706" y="2217421"/>
            <a:ext cx="4402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E36"/>
                </a:solidFill>
                <a:latin typeface="Noto Sans JP" pitchFamily="34" charset="0"/>
                <a:ea typeface="Noto Sans JP" pitchFamily="34" charset="-122"/>
                <a:cs typeface="Noto Sans JP" pitchFamily="34" charset="-120"/>
              </a:rPr>
              <a:t>第3回</a:t>
            </a:r>
            <a:endParaRPr lang="en-US" sz="1200" dirty="0"/>
          </a:p>
        </p:txBody>
      </p:sp>
      <p:sp>
        <p:nvSpPr>
          <p:cNvPr id="7" name="Shape 5"/>
          <p:cNvSpPr/>
          <p:nvPr/>
        </p:nvSpPr>
        <p:spPr>
          <a:xfrm>
            <a:off x="1527175" y="2733675"/>
            <a:ext cx="2533650" cy="450850"/>
          </a:xfrm>
          <a:prstGeom prst="rect">
            <a:avLst/>
          </a:prstGeom>
          <a:solidFill>
            <a:srgbClr val="F6EEEC"/>
          </a:solidFill>
          <a:ln w="6350">
            <a:solidFill>
              <a:srgbClr val="7A2E36"/>
            </a:solidFill>
            <a:prstDash val="solid"/>
          </a:ln>
        </p:spPr>
      </p:sp>
      <p:sp>
        <p:nvSpPr>
          <p:cNvPr id="8" name="Text 6"/>
          <p:cNvSpPr/>
          <p:nvPr/>
        </p:nvSpPr>
        <p:spPr>
          <a:xfrm>
            <a:off x="1706880" y="2834642"/>
            <a:ext cx="762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要件定義</a:t>
            </a:r>
            <a:endParaRPr lang="en-US" sz="1400" dirty="0"/>
          </a:p>
        </p:txBody>
      </p:sp>
      <p:sp>
        <p:nvSpPr>
          <p:cNvPr id="9" name="Text 7"/>
          <p:cNvSpPr/>
          <p:nvPr/>
        </p:nvSpPr>
        <p:spPr>
          <a:xfrm>
            <a:off x="3491706" y="2852421"/>
            <a:ext cx="4402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E36"/>
                </a:solidFill>
                <a:latin typeface="Noto Sans JP" pitchFamily="34" charset="0"/>
                <a:ea typeface="Noto Sans JP" pitchFamily="34" charset="-122"/>
                <a:cs typeface="Noto Sans JP" pitchFamily="34" charset="-120"/>
              </a:rPr>
              <a:t>第4回</a:t>
            </a:r>
            <a:endParaRPr lang="en-US" sz="1200" dirty="0"/>
          </a:p>
        </p:txBody>
      </p:sp>
      <p:sp>
        <p:nvSpPr>
          <p:cNvPr id="10" name="Shape 8"/>
          <p:cNvSpPr/>
          <p:nvPr/>
        </p:nvSpPr>
        <p:spPr>
          <a:xfrm>
            <a:off x="2035175" y="3368675"/>
            <a:ext cx="2533650" cy="450850"/>
          </a:xfrm>
          <a:prstGeom prst="rect">
            <a:avLst/>
          </a:prstGeom>
          <a:solidFill>
            <a:srgbClr val="F6EEEC"/>
          </a:solidFill>
          <a:ln w="6350">
            <a:solidFill>
              <a:srgbClr val="7A2E36"/>
            </a:solidFill>
            <a:prstDash val="solid"/>
          </a:ln>
        </p:spPr>
      </p:sp>
      <p:sp>
        <p:nvSpPr>
          <p:cNvPr id="11" name="Text 9"/>
          <p:cNvSpPr/>
          <p:nvPr/>
        </p:nvSpPr>
        <p:spPr>
          <a:xfrm>
            <a:off x="2214880" y="3469642"/>
            <a:ext cx="762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外部設計</a:t>
            </a:r>
            <a:endParaRPr lang="en-US" sz="1400" dirty="0"/>
          </a:p>
        </p:txBody>
      </p:sp>
      <p:sp>
        <p:nvSpPr>
          <p:cNvPr id="12" name="Text 10"/>
          <p:cNvSpPr/>
          <p:nvPr/>
        </p:nvSpPr>
        <p:spPr>
          <a:xfrm>
            <a:off x="3762692" y="3487421"/>
            <a:ext cx="6772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E36"/>
                </a:solidFill>
                <a:latin typeface="Noto Sans JP" pitchFamily="34" charset="0"/>
                <a:ea typeface="Noto Sans JP" pitchFamily="34" charset="-122"/>
                <a:cs typeface="Noto Sans JP" pitchFamily="34" charset="-120"/>
              </a:rPr>
              <a:t>第5・6回</a:t>
            </a:r>
            <a:endParaRPr lang="en-US" sz="1200" dirty="0"/>
          </a:p>
        </p:txBody>
      </p:sp>
      <p:sp>
        <p:nvSpPr>
          <p:cNvPr id="13" name="Shape 11"/>
          <p:cNvSpPr/>
          <p:nvPr/>
        </p:nvSpPr>
        <p:spPr>
          <a:xfrm>
            <a:off x="2543175" y="4003675"/>
            <a:ext cx="2533650" cy="450850"/>
          </a:xfrm>
          <a:prstGeom prst="rect">
            <a:avLst/>
          </a:prstGeom>
          <a:solidFill>
            <a:srgbClr val="F6EEEC"/>
          </a:solidFill>
          <a:ln w="6350">
            <a:solidFill>
              <a:srgbClr val="7A2E36"/>
            </a:solidFill>
            <a:prstDash val="solid"/>
          </a:ln>
        </p:spPr>
      </p:sp>
      <p:sp>
        <p:nvSpPr>
          <p:cNvPr id="14" name="Text 12"/>
          <p:cNvSpPr/>
          <p:nvPr/>
        </p:nvSpPr>
        <p:spPr>
          <a:xfrm>
            <a:off x="2722880" y="4104642"/>
            <a:ext cx="762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内部設計</a:t>
            </a:r>
            <a:endParaRPr lang="en-US" sz="1400" dirty="0"/>
          </a:p>
        </p:txBody>
      </p:sp>
      <p:sp>
        <p:nvSpPr>
          <p:cNvPr id="15" name="Text 13"/>
          <p:cNvSpPr/>
          <p:nvPr/>
        </p:nvSpPr>
        <p:spPr>
          <a:xfrm>
            <a:off x="4270692" y="4122421"/>
            <a:ext cx="6772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E36"/>
                </a:solidFill>
                <a:latin typeface="Noto Sans JP" pitchFamily="34" charset="0"/>
                <a:ea typeface="Noto Sans JP" pitchFamily="34" charset="-122"/>
                <a:cs typeface="Noto Sans JP" pitchFamily="34" charset="-120"/>
              </a:rPr>
              <a:t>第7・8回</a:t>
            </a:r>
            <a:endParaRPr lang="en-US" sz="1200" dirty="0"/>
          </a:p>
        </p:txBody>
      </p:sp>
      <p:sp>
        <p:nvSpPr>
          <p:cNvPr id="16" name="Shape 14"/>
          <p:cNvSpPr/>
          <p:nvPr/>
        </p:nvSpPr>
        <p:spPr>
          <a:xfrm>
            <a:off x="4829175" y="4702175"/>
            <a:ext cx="2533650" cy="450850"/>
          </a:xfrm>
          <a:prstGeom prst="rect">
            <a:avLst/>
          </a:prstGeom>
          <a:solidFill>
            <a:srgbClr val="F1EFE9"/>
          </a:solidFill>
          <a:ln w="6350">
            <a:solidFill>
              <a:srgbClr val="1F2A37"/>
            </a:solidFill>
            <a:prstDash val="solid"/>
          </a:ln>
        </p:spPr>
      </p:sp>
      <p:sp>
        <p:nvSpPr>
          <p:cNvPr id="17" name="Text 15"/>
          <p:cNvSpPr/>
          <p:nvPr/>
        </p:nvSpPr>
        <p:spPr>
          <a:xfrm>
            <a:off x="5008880" y="4803142"/>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製造</a:t>
            </a:r>
            <a:endParaRPr lang="en-US" sz="1400" dirty="0"/>
          </a:p>
        </p:txBody>
      </p:sp>
      <p:sp>
        <p:nvSpPr>
          <p:cNvPr id="18" name="Text 16"/>
          <p:cNvSpPr/>
          <p:nvPr/>
        </p:nvSpPr>
        <p:spPr>
          <a:xfrm>
            <a:off x="6793706" y="4820921"/>
            <a:ext cx="4402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Noto Sans JP" pitchFamily="34" charset="0"/>
                <a:ea typeface="Noto Sans JP" pitchFamily="34" charset="-122"/>
                <a:cs typeface="Noto Sans JP" pitchFamily="34" charset="-120"/>
              </a:rPr>
              <a:t>第9回</a:t>
            </a:r>
            <a:endParaRPr lang="en-US" sz="1200" dirty="0"/>
          </a:p>
        </p:txBody>
      </p:sp>
      <p:sp>
        <p:nvSpPr>
          <p:cNvPr id="19" name="Shape 17"/>
          <p:cNvSpPr/>
          <p:nvPr/>
        </p:nvSpPr>
        <p:spPr>
          <a:xfrm>
            <a:off x="7115175" y="4003675"/>
            <a:ext cx="2533650" cy="450850"/>
          </a:xfrm>
          <a:prstGeom prst="rect">
            <a:avLst/>
          </a:prstGeom>
          <a:noFill/>
          <a:ln w="6350">
            <a:solidFill>
              <a:srgbClr val="9AA1AB"/>
            </a:solidFill>
            <a:prstDash val="solid"/>
          </a:ln>
        </p:spPr>
      </p:sp>
      <p:sp>
        <p:nvSpPr>
          <p:cNvPr id="20" name="Text 18"/>
          <p:cNvSpPr/>
          <p:nvPr/>
        </p:nvSpPr>
        <p:spPr>
          <a:xfrm>
            <a:off x="7294880" y="4104642"/>
            <a:ext cx="939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単体テスト</a:t>
            </a:r>
            <a:endParaRPr lang="en-US" sz="1400" dirty="0"/>
          </a:p>
        </p:txBody>
      </p:sp>
      <p:sp>
        <p:nvSpPr>
          <p:cNvPr id="21" name="Text 19"/>
          <p:cNvSpPr/>
          <p:nvPr/>
        </p:nvSpPr>
        <p:spPr>
          <a:xfrm>
            <a:off x="8995093" y="4122421"/>
            <a:ext cx="5248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Noto Sans JP" pitchFamily="34" charset="0"/>
                <a:ea typeface="Noto Sans JP" pitchFamily="34" charset="-122"/>
                <a:cs typeface="Noto Sans JP" pitchFamily="34" charset="-120"/>
              </a:rPr>
              <a:t>第10回</a:t>
            </a:r>
            <a:endParaRPr lang="en-US" sz="1200" dirty="0"/>
          </a:p>
        </p:txBody>
      </p:sp>
      <p:sp>
        <p:nvSpPr>
          <p:cNvPr id="22" name="Shape 20"/>
          <p:cNvSpPr/>
          <p:nvPr/>
        </p:nvSpPr>
        <p:spPr>
          <a:xfrm>
            <a:off x="7623175" y="3368675"/>
            <a:ext cx="3041650" cy="450850"/>
          </a:xfrm>
          <a:prstGeom prst="rect">
            <a:avLst/>
          </a:prstGeom>
          <a:noFill/>
          <a:ln w="6350">
            <a:solidFill>
              <a:srgbClr val="9AA1AB"/>
            </a:solidFill>
            <a:prstDash val="solid"/>
          </a:ln>
        </p:spPr>
      </p:sp>
      <p:sp>
        <p:nvSpPr>
          <p:cNvPr id="23" name="Text 21"/>
          <p:cNvSpPr/>
          <p:nvPr/>
        </p:nvSpPr>
        <p:spPr>
          <a:xfrm>
            <a:off x="7802880" y="3469642"/>
            <a:ext cx="201447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結合・総合・受入テスト</a:t>
            </a:r>
            <a:endParaRPr lang="en-US" sz="1400" dirty="0"/>
          </a:p>
        </p:txBody>
      </p:sp>
      <p:sp>
        <p:nvSpPr>
          <p:cNvPr id="24" name="Text 22"/>
          <p:cNvSpPr/>
          <p:nvPr/>
        </p:nvSpPr>
        <p:spPr>
          <a:xfrm>
            <a:off x="10011093" y="3487421"/>
            <a:ext cx="5248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Noto Sans JP" pitchFamily="34" charset="0"/>
                <a:ea typeface="Noto Sans JP" pitchFamily="34" charset="-122"/>
                <a:cs typeface="Noto Sans JP" pitchFamily="34" charset="-120"/>
              </a:rPr>
              <a:t>第11回</a:t>
            </a:r>
            <a:endParaRPr lang="en-US" sz="1200" dirty="0"/>
          </a:p>
        </p:txBody>
      </p:sp>
      <p:sp>
        <p:nvSpPr>
          <p:cNvPr id="25" name="Shape 23"/>
          <p:cNvSpPr/>
          <p:nvPr/>
        </p:nvSpPr>
        <p:spPr>
          <a:xfrm>
            <a:off x="8255000" y="1905000"/>
            <a:ext cx="3124200" cy="1272540"/>
          </a:xfrm>
          <a:prstGeom prst="rect">
            <a:avLst/>
          </a:prstGeom>
          <a:solidFill>
            <a:srgbClr val="F1EFE9"/>
          </a:solidFill>
          <a:ln/>
        </p:spPr>
      </p:sp>
      <p:sp>
        <p:nvSpPr>
          <p:cNvPr id="26" name="Text 24"/>
          <p:cNvSpPr/>
          <p:nvPr/>
        </p:nvSpPr>
        <p:spPr>
          <a:xfrm>
            <a:off x="8432800" y="2057400"/>
            <a:ext cx="28516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Noto Sans JP" pitchFamily="34" charset="0"/>
                <a:ea typeface="Noto Sans JP" pitchFamily="34" charset="-122"/>
                <a:cs typeface="Noto Sans JP" pitchFamily="34" charset="-120"/>
              </a:rPr>
              <a:t>第1・2回　全体像と開発モデル</a:t>
            </a:r>
            <a:endParaRPr lang="en-US" sz="1200" dirty="0"/>
          </a:p>
        </p:txBody>
      </p:sp>
      <p:sp>
        <p:nvSpPr>
          <p:cNvPr id="27" name="Text 25"/>
          <p:cNvSpPr/>
          <p:nvPr/>
        </p:nvSpPr>
        <p:spPr>
          <a:xfrm>
            <a:off x="8432800" y="2308864"/>
            <a:ext cx="28516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Noto Sans JP" pitchFamily="34" charset="0"/>
                <a:ea typeface="Noto Sans JP" pitchFamily="34" charset="-122"/>
                <a:cs typeface="Noto Sans JP" pitchFamily="34" charset="-120"/>
              </a:rPr>
              <a:t>第12回　　設計書レビュー会</a:t>
            </a:r>
            <a:endParaRPr lang="en-US" sz="1200" dirty="0"/>
          </a:p>
        </p:txBody>
      </p:sp>
      <p:sp>
        <p:nvSpPr>
          <p:cNvPr id="28" name="Text 26"/>
          <p:cNvSpPr/>
          <p:nvPr/>
        </p:nvSpPr>
        <p:spPr>
          <a:xfrm>
            <a:off x="8432800" y="2560321"/>
            <a:ext cx="28516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Noto Sans JP" pitchFamily="34" charset="0"/>
                <a:ea typeface="Noto Sans JP" pitchFamily="34" charset="-122"/>
                <a:cs typeface="Noto Sans JP" pitchFamily="34" charset="-120"/>
              </a:rPr>
              <a:t>第13・14回　アジャイル・スクラム</a:t>
            </a:r>
            <a:endParaRPr lang="en-US" sz="1200" dirty="0"/>
          </a:p>
        </p:txBody>
      </p:sp>
      <p:sp>
        <p:nvSpPr>
          <p:cNvPr id="29" name="Text 27"/>
          <p:cNvSpPr/>
          <p:nvPr/>
        </p:nvSpPr>
        <p:spPr>
          <a:xfrm>
            <a:off x="8432800" y="2811779"/>
            <a:ext cx="28516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Noto Sans JP" pitchFamily="34" charset="0"/>
                <a:ea typeface="Noto Sans JP" pitchFamily="34" charset="-122"/>
                <a:cs typeface="Noto Sans JP" pitchFamily="34" charset="-120"/>
              </a:rPr>
              <a:t>第15回　　総まとめ・最終発表</a:t>
            </a:r>
            <a:endParaRPr lang="en-US" sz="1200" dirty="0"/>
          </a:p>
        </p:txBody>
      </p:sp>
      <p:sp>
        <p:nvSpPr>
          <p:cNvPr id="30" name="Text 28"/>
          <p:cNvSpPr/>
          <p:nvPr/>
        </p:nvSpPr>
        <p:spPr>
          <a:xfrm>
            <a:off x="1016000" y="4826000"/>
            <a:ext cx="35318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E36"/>
                </a:solidFill>
                <a:latin typeface="Noto Sans JP" pitchFamily="34" charset="0"/>
                <a:ea typeface="Noto Sans JP" pitchFamily="34" charset="-122"/>
                <a:cs typeface="Noto Sans JP" pitchFamily="34" charset="-120"/>
              </a:rPr>
              <a:t>左：上流工程（決める）</a:t>
            </a:r>
            <a:endParaRPr lang="en-US" sz="1200" dirty="0"/>
          </a:p>
        </p:txBody>
      </p:sp>
      <p:sp>
        <p:nvSpPr>
          <p:cNvPr id="31" name="Text 29"/>
          <p:cNvSpPr/>
          <p:nvPr/>
        </p:nvSpPr>
        <p:spPr>
          <a:xfrm>
            <a:off x="7620000" y="4826000"/>
            <a:ext cx="35318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Noto Sans JP" pitchFamily="34" charset="0"/>
                <a:ea typeface="Noto Sans JP" pitchFamily="34" charset="-122"/>
                <a:cs typeface="Noto Sans JP" pitchFamily="34" charset="-120"/>
              </a:rPr>
              <a:t>右：下流工程（確かめる）</a:t>
            </a:r>
            <a:endParaRPr lang="en-US" sz="1200" dirty="0"/>
          </a:p>
        </p:txBody>
      </p:sp>
      <p:sp>
        <p:nvSpPr>
          <p:cNvPr id="32" name="Text 3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今日は地図の入口にいます。毎回この地図で現在地を確認します。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EF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E36"/>
                </a:solidFill>
                <a:latin typeface="Noto Sans JP" pitchFamily="34" charset="0"/>
                <a:ea typeface="Noto Sans JP" pitchFamily="34" charset="-122"/>
                <a:cs typeface="Noto Sans JP" pitchFamily="34" charset="-120"/>
              </a:rPr>
              <a:t>ハンズオン　30分</a:t>
            </a:r>
            <a:endParaRPr lang="en-US" sz="1200" dirty="0"/>
          </a:p>
        </p:txBody>
      </p:sp>
      <p:sp>
        <p:nvSpPr>
          <p:cNvPr id="3" name="Text 1"/>
          <p:cNvSpPr/>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37"/>
                </a:solidFill>
                <a:latin typeface="Noto Serif JP" pitchFamily="34" charset="0"/>
                <a:ea typeface="Noto Serif JP" pitchFamily="34" charset="-122"/>
                <a:cs typeface="Noto Serif JP" pitchFamily="34" charset="-120"/>
              </a:rPr>
              <a:t>身近なシステムを、4つの視点で分解する</a:t>
            </a:r>
            <a:endParaRPr lang="en-US" sz="3200" dirty="0"/>
          </a:p>
        </p:txBody>
      </p:sp>
      <p:sp>
        <p:nvSpPr>
          <p:cNvPr id="4" name="Shape 2"/>
          <p:cNvSpPr/>
          <p:nvPr/>
        </p:nvSpPr>
        <p:spPr>
          <a:xfrm>
            <a:off x="812800" y="1874521"/>
            <a:ext cx="10566400" cy="1927860"/>
          </a:xfrm>
          <a:prstGeom prst="rect">
            <a:avLst/>
          </a:prstGeom>
          <a:solidFill>
            <a:srgbClr val="FAF9F6"/>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84681"/>
          <a:ext cx="10556240" cy="1917700"/>
        </p:xfrm>
        <a:graphic>
          <a:graphicData uri="http://schemas.openxmlformats.org/drawingml/2006/table">
            <a:tbl>
              <a:tblPr/>
              <a:tblGrid>
                <a:gridCol w="2322373"/>
                <a:gridCol w="3589122"/>
                <a:gridCol w="4644746"/>
              </a:tblGrid>
              <a:tr h="383540">
                <a:tc>
                  <a:txBody>
                    <a:bodyPr/>
                    <a:lstStyle/>
                    <a:p>
                      <a:pPr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視点</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7C4"/>
                      </a:solidFill>
                      <a:prstDash val="solid"/>
                      <a:round/>
                      <a:headEnd type="none" w="med" len="med"/>
                      <a:tailEnd type="none" w="med" len="med"/>
                    </a:lnL>
                    <a:lnR w="12700" cap="flat" cmpd="sng" algn="ctr">
                      <a:solidFill>
                        <a:srgbClr val="B9B9B6"/>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9B9B6"/>
                      </a:solidFill>
                      <a:prstDash val="solid"/>
                      <a:round/>
                      <a:headEnd type="none" w="med" len="med"/>
                      <a:tailEnd type="none" w="med" len="med"/>
                    </a:lnB>
                    <a:solidFill>
                      <a:srgbClr val="E8E7E4"/>
                    </a:solidFill>
                  </a:tcPr>
                </a:tc>
                <a:tc>
                  <a:txBody>
                    <a:bodyPr/>
                    <a:lstStyle/>
                    <a:p>
                      <a:pPr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問い</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B9B9B6"/>
                      </a:solidFill>
                      <a:prstDash val="solid"/>
                      <a:round/>
                      <a:headEnd type="none" w="med" len="med"/>
                      <a:tailEnd type="none" w="med" len="med"/>
                    </a:lnL>
                    <a:lnR w="12700" cap="flat" cmpd="sng" algn="ctr">
                      <a:solidFill>
                        <a:srgbClr val="B9B9B6"/>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9B9B6"/>
                      </a:solidFill>
                      <a:prstDash val="solid"/>
                      <a:round/>
                      <a:headEnd type="none" w="med" len="med"/>
                      <a:tailEnd type="none" w="med" len="med"/>
                    </a:lnB>
                    <a:solidFill>
                      <a:srgbClr val="E8E7E4"/>
                    </a:solidFill>
                  </a:tcPr>
                </a:tc>
                <a:tc>
                  <a:txBody>
                    <a:bodyPr/>
                    <a:lstStyle/>
                    <a:p>
                      <a:pPr indent="0" marL="0">
                        <a:lnSpc>
                          <a:spcPts val="1960"/>
                        </a:lnSpc>
                        <a:buNone/>
                      </a:pPr>
                      <a:r>
                        <a:rPr lang="en-US" sz="1400" b="1" dirty="0">
                          <a:solidFill>
                            <a:srgbClr val="1F2A37"/>
                          </a:solidFill>
                          <a:latin typeface="Noto Sans JP" pitchFamily="34" charset="0"/>
                          <a:ea typeface="Noto Sans JP" pitchFamily="34" charset="-122"/>
                          <a:cs typeface="Noto Sans JP" pitchFamily="34" charset="-120"/>
                        </a:rPr>
                        <a:t>例：自動販売機</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B9B9B6"/>
                      </a:solidFill>
                      <a:prstDash val="solid"/>
                      <a:round/>
                      <a:headEnd type="none" w="med" len="med"/>
                      <a:tailEnd type="none" w="med" len="med"/>
                    </a:lnL>
                    <a:lnR w="12700" cap="flat" cmpd="sng" algn="ctr">
                      <a:solidFill>
                        <a:srgbClr val="B9B9B6"/>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9B9B6"/>
                      </a:solidFill>
                      <a:prstDash val="solid"/>
                      <a:round/>
                      <a:headEnd type="none" w="med" len="med"/>
                      <a:tailEnd type="none" w="med" len="med"/>
                    </a:lnB>
                    <a:solidFill>
                      <a:srgbClr val="E8E7E4"/>
                    </a:solidFill>
                  </a:tcPr>
                </a:tc>
              </a:tr>
              <a:tr h="383540">
                <a:tc>
                  <a:txBody>
                    <a:bodyPr/>
                    <a:lstStyle/>
                    <a:p>
                      <a:pPr indent="0" marL="0">
                        <a:lnSpc>
                          <a:spcPts val="1960"/>
                        </a:lnSpc>
                        <a:buNone/>
                      </a:pPr>
                      <a:r>
                        <a:rPr lang="en-US" sz="1400" dirty="0">
                          <a:solidFill>
                            <a:srgbClr val="1F2A37"/>
                          </a:solidFill>
                          <a:latin typeface="Noto Sans JP" pitchFamily="34" charset="0"/>
                          <a:ea typeface="Noto Sans JP" pitchFamily="34" charset="-122"/>
                          <a:cs typeface="Noto Sans JP" pitchFamily="34" charset="-120"/>
                        </a:rPr>
                        <a:t>登場人物</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9B9B6"/>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Noto Sans JP" pitchFamily="34" charset="0"/>
                          <a:ea typeface="Noto Sans JP" pitchFamily="34" charset="-122"/>
                          <a:cs typeface="Noto Sans JP" pitchFamily="34" charset="-120"/>
                        </a:rPr>
                        <a:t>誰が使う？ 誰が管理する？</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9B9B6"/>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Noto Sans JP" pitchFamily="34" charset="0"/>
                          <a:ea typeface="Noto Sans JP" pitchFamily="34" charset="-122"/>
                          <a:cs typeface="Noto Sans JP" pitchFamily="34" charset="-120"/>
                        </a:rPr>
                        <a:t>買う人、補充する人</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9B9B6"/>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383540">
                <a:tc>
                  <a:txBody>
                    <a:bodyPr/>
                    <a:lstStyle/>
                    <a:p>
                      <a:pPr indent="0" marL="0">
                        <a:lnSpc>
                          <a:spcPts val="1960"/>
                        </a:lnSpc>
                        <a:buNone/>
                      </a:pPr>
                      <a:r>
                        <a:rPr lang="en-US" sz="1400" dirty="0">
                          <a:solidFill>
                            <a:srgbClr val="1F2A37"/>
                          </a:solidFill>
                          <a:latin typeface="Noto Sans JP" pitchFamily="34" charset="0"/>
                          <a:ea typeface="Noto Sans JP" pitchFamily="34" charset="-122"/>
                          <a:cs typeface="Noto Sans JP" pitchFamily="34" charset="-120"/>
                        </a:rPr>
                        <a:t>入力</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Noto Sans JP" pitchFamily="34" charset="0"/>
                          <a:ea typeface="Noto Sans JP" pitchFamily="34" charset="-122"/>
                          <a:cs typeface="Noto Sans JP" pitchFamily="34" charset="-120"/>
                        </a:rPr>
                        <a:t>何が入る？</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Noto Sans JP" pitchFamily="34" charset="0"/>
                          <a:ea typeface="Noto Sans JP" pitchFamily="34" charset="-122"/>
                          <a:cs typeface="Noto Sans JP" pitchFamily="34" charset="-120"/>
                        </a:rPr>
                        <a:t>お金、ボタン</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383540">
                <a:tc>
                  <a:txBody>
                    <a:bodyPr/>
                    <a:lstStyle/>
                    <a:p>
                      <a:pPr indent="0" marL="0">
                        <a:lnSpc>
                          <a:spcPts val="1960"/>
                        </a:lnSpc>
                        <a:buNone/>
                      </a:pPr>
                      <a:r>
                        <a:rPr lang="en-US" sz="1400" dirty="0">
                          <a:solidFill>
                            <a:srgbClr val="1F2A37"/>
                          </a:solidFill>
                          <a:latin typeface="Noto Sans JP" pitchFamily="34" charset="0"/>
                          <a:ea typeface="Noto Sans JP" pitchFamily="34" charset="-122"/>
                          <a:cs typeface="Noto Sans JP" pitchFamily="34" charset="-120"/>
                        </a:rPr>
                        <a:t>処理</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Noto Sans JP" pitchFamily="34" charset="0"/>
                          <a:ea typeface="Noto Sans JP" pitchFamily="34" charset="-122"/>
                          <a:cs typeface="Noto Sans JP" pitchFamily="34" charset="-120"/>
                        </a:rPr>
                        <a:t>中で何が起きている？</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Noto Sans JP" pitchFamily="34" charset="0"/>
                          <a:ea typeface="Noto Sans JP" pitchFamily="34" charset="-122"/>
                          <a:cs typeface="Noto Sans JP" pitchFamily="34" charset="-120"/>
                        </a:rPr>
                        <a:t>金額の判定、在庫の確認、お釣りの計算</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383540">
                <a:tc>
                  <a:txBody>
                    <a:bodyPr/>
                    <a:lstStyle/>
                    <a:p>
                      <a:pPr indent="0" marL="0">
                        <a:lnSpc>
                          <a:spcPts val="1960"/>
                        </a:lnSpc>
                        <a:buNone/>
                      </a:pPr>
                      <a:r>
                        <a:rPr lang="en-US" sz="1400" dirty="0">
                          <a:solidFill>
                            <a:srgbClr val="1F2A37"/>
                          </a:solidFill>
                          <a:latin typeface="Noto Sans JP" pitchFamily="34" charset="0"/>
                          <a:ea typeface="Noto Sans JP" pitchFamily="34" charset="-122"/>
                          <a:cs typeface="Noto Sans JP" pitchFamily="34" charset="-120"/>
                        </a:rPr>
                        <a:t>出力</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Noto Sans JP" pitchFamily="34" charset="0"/>
                          <a:ea typeface="Noto Sans JP" pitchFamily="34" charset="-122"/>
                          <a:cs typeface="Noto Sans JP" pitchFamily="34" charset="-120"/>
                        </a:rPr>
                        <a:t>何が出てくる？</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Noto Sans JP" pitchFamily="34" charset="0"/>
                          <a:ea typeface="Noto Sans JP" pitchFamily="34" charset="-122"/>
                          <a:cs typeface="Noto Sans JP" pitchFamily="34" charset="-120"/>
                        </a:rPr>
                        <a:t>商品、お釣り、売り切れランプ</a:t>
                      </a:r>
                      <a:endParaRPr lang="en-US" sz="1400" dirty="0">
                        <a:latin typeface="Noto Sans JP" charset="0"/>
                        <a:ea typeface="Noto Sans JP" charset="0"/>
                        <a:cs typeface="Noto Sans JP" charset="0"/>
                      </a:endParaRPr>
                    </a:p>
                  </a:txBody>
                  <a:tcPr marL="62230" marR="62230" marT="62230" marB="6223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6" name="Text 3"/>
          <p:cNvSpPr/>
          <p:nvPr/>
        </p:nvSpPr>
        <p:spPr>
          <a:xfrm>
            <a:off x="812800" y="4107179"/>
            <a:ext cx="255839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Noto Sans JP" pitchFamily="34" charset="0"/>
                <a:ea typeface="Noto Sans JP" pitchFamily="34" charset="-122"/>
                <a:cs typeface="Noto Sans JP" pitchFamily="34" charset="-120"/>
              </a:rPr>
              <a:t>「処理」は想像でかまいません</a:t>
            </a:r>
            <a:endParaRPr lang="en-US" sz="1400" dirty="0"/>
          </a:p>
        </p:txBody>
      </p:sp>
      <p:sp>
        <p:nvSpPr>
          <p:cNvPr id="7" name="Text 4"/>
          <p:cNvSpPr/>
          <p:nvPr/>
        </p:nvSpPr>
        <p:spPr>
          <a:xfrm>
            <a:off x="3601482" y="4107179"/>
            <a:ext cx="293014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A2E36"/>
                </a:solidFill>
                <a:latin typeface="Noto Sans JP" pitchFamily="34" charset="0"/>
                <a:ea typeface="Noto Sans JP" pitchFamily="34" charset="-122"/>
                <a:cs typeface="Noto Sans JP" pitchFamily="34" charset="-120"/>
              </a:rPr>
              <a:t>一番自信がない「処理」の付箋に★</a:t>
            </a:r>
            <a:endParaRPr lang="en-US" sz="1400" dirty="0"/>
          </a:p>
        </p:txBody>
      </p:sp>
      <p:sp>
        <p:nvSpPr>
          <p:cNvPr id="8"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題材：コンビニレジ／自動改札／ネット通販／図書館の貸出／ATM／券売機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2A37"/>
        </a:solidFill>
      </p:bgPr>
    </p:bg>
    <p:spTree>
      <p:nvGrpSpPr>
        <p:cNvPr id="1" name=""/>
        <p:cNvGrpSpPr/>
        <p:nvPr/>
      </p:nvGrpSpPr>
      <p:grpSpPr>
        <a:xfrm>
          <a:off x="0" y="0"/>
          <a:ext cx="0" cy="0"/>
          <a:chOff x="0" y="0"/>
          <a:chExt cx="0" cy="0"/>
        </a:xfrm>
      </p:grpSpPr>
      <p:sp>
        <p:nvSpPr>
          <p:cNvPr id="2" name="Text 0"/>
          <p:cNvSpPr/>
          <p:nvPr/>
        </p:nvSpPr>
        <p:spPr>
          <a:xfrm>
            <a:off x="812800" y="2268221"/>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D9A7A0"/>
                </a:solidFill>
                <a:latin typeface="Noto Sans JP" pitchFamily="34" charset="0"/>
                <a:ea typeface="Noto Sans JP" pitchFamily="34" charset="-122"/>
                <a:cs typeface="Noto Sans JP" pitchFamily="34" charset="-120"/>
              </a:rPr>
              <a:t>今日のまとめ</a:t>
            </a:r>
            <a:endParaRPr lang="en-US" sz="1400" dirty="0"/>
          </a:p>
        </p:txBody>
      </p:sp>
      <p:sp>
        <p:nvSpPr>
          <p:cNvPr id="3" name="Text 1"/>
          <p:cNvSpPr/>
          <p:nvPr/>
        </p:nvSpPr>
        <p:spPr>
          <a:xfrm>
            <a:off x="812800" y="2771142"/>
            <a:ext cx="10883392" cy="13055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AF9F6"/>
                </a:solidFill>
                <a:latin typeface="Noto Serif JP" pitchFamily="34" charset="0"/>
                <a:ea typeface="Noto Serif JP" pitchFamily="34" charset="-122"/>
                <a:cs typeface="Noto Serif JP" pitchFamily="34" charset="-120"/>
              </a:rPr>
              <a:t>中身が分からない。</a:t>
            </a:r>
            <a:endParaRPr lang="en-US" sz="3600" dirty="0"/>
          </a:p>
          <a:p>
            <a:pPr algn="l" indent="0" marL="0">
              <a:lnSpc>
                <a:spcPts val="5040"/>
              </a:lnSpc>
              <a:buNone/>
            </a:pPr>
            <a:r>
              <a:rPr lang="en-US" sz="3600" b="1" dirty="0">
                <a:solidFill>
                  <a:srgbClr val="FAF9F6"/>
                </a:solidFill>
                <a:latin typeface="Noto Serif JP" pitchFamily="34" charset="0"/>
                <a:ea typeface="Noto Serif JP" pitchFamily="34" charset="-122"/>
                <a:cs typeface="Noto Serif JP" pitchFamily="34" charset="-120"/>
              </a:rPr>
              <a:t>だから、作る前に設計書を書く。</a:t>
            </a:r>
            <a:endParaRPr lang="en-US" sz="3600" dirty="0"/>
          </a:p>
        </p:txBody>
      </p:sp>
      <p:sp>
        <p:nvSpPr>
          <p:cNvPr id="4" name="Text 2"/>
          <p:cNvSpPr/>
          <p:nvPr/>
        </p:nvSpPr>
        <p:spPr>
          <a:xfrm>
            <a:off x="812800" y="43053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ED6"/>
                </a:solidFill>
                <a:latin typeface="Noto Sans JP" pitchFamily="34" charset="0"/>
                <a:ea typeface="Noto Sans JP" pitchFamily="34" charset="-122"/>
                <a:cs typeface="Noto Sans JP" pitchFamily="34" charset="-120"/>
              </a:rPr>
              <a:t>今日の分解は、分析の第一歩でした。</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E36"/>
                </a:solidFill>
                <a:latin typeface="Noto Sans JP" pitchFamily="34" charset="0"/>
                <a:ea typeface="Noto Sans JP" pitchFamily="34" charset="-122"/>
                <a:cs typeface="Noto Sans JP" pitchFamily="34" charset="-120"/>
              </a:rPr>
              <a:t>次回までに</a:t>
            </a:r>
            <a:endParaRPr lang="en-US" sz="1200" dirty="0"/>
          </a:p>
        </p:txBody>
      </p:sp>
      <p:sp>
        <p:nvSpPr>
          <p:cNvPr id="3" name="Text 1"/>
          <p:cNvSpPr/>
          <p:nvPr/>
        </p:nvSpPr>
        <p:spPr>
          <a:xfrm>
            <a:off x="812800" y="1102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37"/>
                </a:solidFill>
                <a:latin typeface="Noto Serif JP" pitchFamily="34" charset="0"/>
                <a:ea typeface="Noto Serif JP" pitchFamily="34" charset="-122"/>
                <a:cs typeface="Noto Serif JP" pitchFamily="34" charset="-120"/>
              </a:rPr>
              <a:t>宿題</a:t>
            </a:r>
            <a:endParaRPr lang="en-US" sz="3200" dirty="0"/>
          </a:p>
        </p:txBody>
      </p:sp>
      <p:sp>
        <p:nvSpPr>
          <p:cNvPr id="4" name="Shape 2"/>
          <p:cNvSpPr/>
          <p:nvPr/>
        </p:nvSpPr>
        <p:spPr>
          <a:xfrm>
            <a:off x="812800" y="1928502"/>
            <a:ext cx="10566400" cy="0"/>
          </a:xfrm>
          <a:prstGeom prst="line">
            <a:avLst/>
          </a:prstGeom>
          <a:noFill/>
          <a:ln w="6350">
            <a:solidFill>
              <a:srgbClr val="D6D3CC"/>
            </a:solidFill>
            <a:prstDash val="solid"/>
          </a:ln>
        </p:spPr>
      </p:sp>
      <p:sp>
        <p:nvSpPr>
          <p:cNvPr id="5" name="Shape 3"/>
          <p:cNvSpPr/>
          <p:nvPr/>
        </p:nvSpPr>
        <p:spPr>
          <a:xfrm>
            <a:off x="812800" y="3209932"/>
            <a:ext cx="10566400" cy="0"/>
          </a:xfrm>
          <a:prstGeom prst="line">
            <a:avLst/>
          </a:prstGeom>
          <a:noFill/>
          <a:ln w="6350">
            <a:solidFill>
              <a:srgbClr val="D6D3CC"/>
            </a:solidFill>
            <a:prstDash val="solid"/>
          </a:ln>
        </p:spPr>
      </p:sp>
      <p:sp>
        <p:nvSpPr>
          <p:cNvPr id="6" name="Text 4"/>
          <p:cNvSpPr/>
          <p:nvPr/>
        </p:nvSpPr>
        <p:spPr>
          <a:xfrm>
            <a:off x="812800" y="2311400"/>
            <a:ext cx="812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A2E36"/>
                </a:solidFill>
                <a:latin typeface="Noto Sans JP" pitchFamily="34" charset="0"/>
                <a:ea typeface="Noto Sans JP" pitchFamily="34" charset="-122"/>
                <a:cs typeface="Noto Sans JP" pitchFamily="34" charset="-120"/>
              </a:rPr>
              <a:t>予習</a:t>
            </a:r>
            <a:endParaRPr lang="en-US" sz="1400" dirty="0"/>
          </a:p>
        </p:txBody>
      </p:sp>
      <p:sp>
        <p:nvSpPr>
          <p:cNvPr id="7" name="Text 5"/>
          <p:cNvSpPr/>
          <p:nvPr/>
        </p:nvSpPr>
        <p:spPr>
          <a:xfrm>
            <a:off x="1879600" y="2184400"/>
            <a:ext cx="4835473" cy="444500"/>
          </a:xfrm>
          <a:prstGeom prst="rect">
            <a:avLst/>
          </a:prstGeom>
          <a:noFill/>
          <a:ln/>
        </p:spPr>
        <p:txBody>
          <a:bodyPr wrap="square" lIns="0" tIns="0" rIns="0" bIns="0" rtlCol="0" anchor="t">
            <a:normAutofit/>
          </a:bodyPr>
          <a:lstStyle/>
          <a:p>
            <a:pPr algn="l" indent="0" marL="0">
              <a:lnSpc>
                <a:spcPts val="3300"/>
              </a:lnSpc>
              <a:buNone/>
            </a:pPr>
            <a:r>
              <a:rPr lang="en-US" sz="2200" dirty="0">
                <a:solidFill>
                  <a:srgbClr val="1F2A37"/>
                </a:solidFill>
                <a:latin typeface="Noto Sans JP" pitchFamily="34" charset="0"/>
                <a:ea typeface="Noto Sans JP" pitchFamily="34" charset="-122"/>
                <a:cs typeface="Noto Sans JP" pitchFamily="34" charset="-120"/>
              </a:rPr>
              <a:t>教科書 p.021〜056 を読む</a:t>
            </a:r>
            <a:endParaRPr lang="en-US" sz="2200" dirty="0"/>
          </a:p>
        </p:txBody>
      </p:sp>
      <p:sp>
        <p:nvSpPr>
          <p:cNvPr id="8" name="Text 6"/>
          <p:cNvSpPr/>
          <p:nvPr/>
        </p:nvSpPr>
        <p:spPr>
          <a:xfrm>
            <a:off x="1879600" y="2705100"/>
            <a:ext cx="483547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Noto Sans JP" pitchFamily="34" charset="0"/>
                <a:ea typeface="Noto Sans JP" pitchFamily="34" charset="-122"/>
                <a:cs typeface="Noto Sans JP" pitchFamily="34" charset="-120"/>
              </a:rPr>
              <a:t>第1章 04節「代表的な開発モデル」と、第2章「作業標準」</a:t>
            </a:r>
            <a:endParaRPr lang="en-US" sz="1400" dirty="0"/>
          </a:p>
        </p:txBody>
      </p:sp>
      <p:sp>
        <p:nvSpPr>
          <p:cNvPr id="9" name="Text 7"/>
          <p:cNvSpPr/>
          <p:nvPr/>
        </p:nvSpPr>
        <p:spPr>
          <a:xfrm>
            <a:off x="812800" y="35687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Noto Sans JP" pitchFamily="34" charset="0"/>
                <a:ea typeface="Noto Sans JP" pitchFamily="34" charset="-122"/>
                <a:cs typeface="Noto Sans JP" pitchFamily="34" charset="-120"/>
              </a:rPr>
              <a:t>次回：開発モデルと、処理を正しく伝える図の書き方</a:t>
            </a:r>
            <a:endParaRPr lang="en-US" sz="1400" dirty="0"/>
          </a:p>
        </p:txBody>
      </p:sp>
      <p:sp>
        <p:nvSpPr>
          <p:cNvPr id="10" name="Text 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システム開発（基礎）第1回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E36"/>
                </a:solidFill>
                <a:latin typeface="Noto Sans JP" pitchFamily="34" charset="0"/>
                <a:ea typeface="Noto Sans JP" pitchFamily="34" charset="-122"/>
                <a:cs typeface="Noto Sans JP" pitchFamily="34" charset="-120"/>
              </a:rPr>
              <a:t>次回の冒頭　10分・5問</a:t>
            </a:r>
            <a:endParaRPr lang="en-US" sz="1200" dirty="0"/>
          </a:p>
        </p:txBody>
      </p:sp>
      <p:sp>
        <p:nvSpPr>
          <p:cNvPr id="3" name="Text 1"/>
          <p:cNvSpPr/>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2A37"/>
                </a:solidFill>
                <a:latin typeface="Noto Serif JP" pitchFamily="34" charset="0"/>
                <a:ea typeface="Noto Serif JP" pitchFamily="34" charset="-122"/>
                <a:cs typeface="Noto Serif JP" pitchFamily="34" charset="-120"/>
              </a:rPr>
              <a:t>小テスト①　復習のポイント</a:t>
            </a:r>
            <a:endParaRPr lang="en-US" sz="3200" dirty="0"/>
          </a:p>
        </p:txBody>
      </p:sp>
      <p:sp>
        <p:nvSpPr>
          <p:cNvPr id="4" name="Shape 2"/>
          <p:cNvSpPr/>
          <p:nvPr/>
        </p:nvSpPr>
        <p:spPr>
          <a:xfrm>
            <a:off x="812800" y="1877702"/>
            <a:ext cx="10566400" cy="0"/>
          </a:xfrm>
          <a:prstGeom prst="line">
            <a:avLst/>
          </a:prstGeom>
          <a:noFill/>
          <a:ln w="6350">
            <a:solidFill>
              <a:srgbClr val="D6D3CC"/>
            </a:solidFill>
            <a:prstDash val="solid"/>
          </a:ln>
        </p:spPr>
      </p:sp>
      <p:sp>
        <p:nvSpPr>
          <p:cNvPr id="5" name="Text 3"/>
          <p:cNvSpPr/>
          <p:nvPr/>
        </p:nvSpPr>
        <p:spPr>
          <a:xfrm>
            <a:off x="812800" y="2138685"/>
            <a:ext cx="1066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E36"/>
                </a:solidFill>
                <a:latin typeface="Noto Sans JP" pitchFamily="34" charset="0"/>
                <a:ea typeface="Noto Sans JP" pitchFamily="34" charset="-122"/>
                <a:cs typeface="Noto Sans JP" pitchFamily="34" charset="-120"/>
              </a:rPr>
              <a:t>p.008〜013</a:t>
            </a:r>
            <a:endParaRPr lang="en-US" sz="1200" dirty="0"/>
          </a:p>
        </p:txBody>
      </p:sp>
      <p:sp>
        <p:nvSpPr>
          <p:cNvPr id="6" name="Text 4"/>
          <p:cNvSpPr/>
          <p:nvPr/>
        </p:nvSpPr>
        <p:spPr>
          <a:xfrm>
            <a:off x="2133600" y="2057400"/>
            <a:ext cx="5337048" cy="349250"/>
          </a:xfrm>
          <a:prstGeom prst="rect">
            <a:avLst/>
          </a:prstGeom>
          <a:noFill/>
          <a:ln/>
        </p:spPr>
        <p:txBody>
          <a:bodyPr wrap="square" lIns="0" tIns="0" rIns="0" bIns="0" rtlCol="0" anchor="t">
            <a:normAutofit/>
          </a:bodyPr>
          <a:lstStyle/>
          <a:p>
            <a:pPr algn="l" indent="0" marL="0">
              <a:lnSpc>
                <a:spcPts val="2550"/>
              </a:lnSpc>
              <a:buNone/>
            </a:pPr>
            <a:r>
              <a:rPr lang="en-US" sz="1700" dirty="0">
                <a:solidFill>
                  <a:srgbClr val="1F2A37"/>
                </a:solidFill>
                <a:latin typeface="Noto Sans JP" pitchFamily="34" charset="0"/>
                <a:ea typeface="Noto Sans JP" pitchFamily="34" charset="-122"/>
                <a:cs typeface="Noto Sans JP" pitchFamily="34" charset="-120"/>
              </a:rPr>
              <a:t>なぜソフトウェア開発に「工学」が必要になったのか</a:t>
            </a:r>
            <a:endParaRPr lang="en-US" sz="1700" dirty="0"/>
          </a:p>
        </p:txBody>
      </p:sp>
      <p:sp>
        <p:nvSpPr>
          <p:cNvPr id="7" name="Shape 5"/>
          <p:cNvSpPr/>
          <p:nvPr/>
        </p:nvSpPr>
        <p:spPr>
          <a:xfrm>
            <a:off x="812800" y="2562225"/>
            <a:ext cx="10566400" cy="0"/>
          </a:xfrm>
          <a:prstGeom prst="line">
            <a:avLst/>
          </a:prstGeom>
          <a:noFill/>
          <a:ln w="6350">
            <a:solidFill>
              <a:srgbClr val="D6D3CC"/>
            </a:solidFill>
            <a:prstDash val="solid"/>
          </a:ln>
        </p:spPr>
      </p:sp>
      <p:sp>
        <p:nvSpPr>
          <p:cNvPr id="8" name="Text 6"/>
          <p:cNvSpPr/>
          <p:nvPr/>
        </p:nvSpPr>
        <p:spPr>
          <a:xfrm>
            <a:off x="812800" y="2823208"/>
            <a:ext cx="1066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E36"/>
                </a:solidFill>
                <a:latin typeface="Noto Sans JP" pitchFamily="34" charset="0"/>
                <a:ea typeface="Noto Sans JP" pitchFamily="34" charset="-122"/>
                <a:cs typeface="Noto Sans JP" pitchFamily="34" charset="-120"/>
              </a:rPr>
              <a:t>p.014〜017</a:t>
            </a:r>
            <a:endParaRPr lang="en-US" sz="1200" dirty="0"/>
          </a:p>
        </p:txBody>
      </p:sp>
      <p:sp>
        <p:nvSpPr>
          <p:cNvPr id="9" name="Text 7"/>
          <p:cNvSpPr/>
          <p:nvPr/>
        </p:nvSpPr>
        <p:spPr>
          <a:xfrm>
            <a:off x="2133600" y="2741935"/>
            <a:ext cx="6222141" cy="349250"/>
          </a:xfrm>
          <a:prstGeom prst="rect">
            <a:avLst/>
          </a:prstGeom>
          <a:noFill/>
          <a:ln/>
        </p:spPr>
        <p:txBody>
          <a:bodyPr wrap="square" lIns="0" tIns="0" rIns="0" bIns="0" rtlCol="0" anchor="t">
            <a:normAutofit/>
          </a:bodyPr>
          <a:lstStyle/>
          <a:p>
            <a:pPr algn="l" indent="0" marL="0">
              <a:lnSpc>
                <a:spcPts val="2550"/>
              </a:lnSpc>
              <a:buNone/>
            </a:pPr>
            <a:r>
              <a:rPr lang="en-US" sz="1700" dirty="0">
                <a:solidFill>
                  <a:srgbClr val="1F2A37"/>
                </a:solidFill>
                <a:latin typeface="Noto Sans JP" pitchFamily="34" charset="0"/>
                <a:ea typeface="Noto Sans JP" pitchFamily="34" charset="-122"/>
                <a:cs typeface="Noto Sans JP" pitchFamily="34" charset="-120"/>
              </a:rPr>
              <a:t>分析と設計、先に行うのはどちらか。それぞれ何を決めるのか</a:t>
            </a:r>
            <a:endParaRPr lang="en-US" sz="1700" dirty="0"/>
          </a:p>
        </p:txBody>
      </p:sp>
      <p:sp>
        <p:nvSpPr>
          <p:cNvPr id="10" name="Shape 8"/>
          <p:cNvSpPr/>
          <p:nvPr/>
        </p:nvSpPr>
        <p:spPr>
          <a:xfrm>
            <a:off x="812800" y="3246760"/>
            <a:ext cx="10566400" cy="0"/>
          </a:xfrm>
          <a:prstGeom prst="line">
            <a:avLst/>
          </a:prstGeom>
          <a:noFill/>
          <a:ln w="6350">
            <a:solidFill>
              <a:srgbClr val="D6D3CC"/>
            </a:solidFill>
            <a:prstDash val="solid"/>
          </a:ln>
        </p:spPr>
      </p:sp>
      <p:sp>
        <p:nvSpPr>
          <p:cNvPr id="11" name="Text 9"/>
          <p:cNvSpPr/>
          <p:nvPr/>
        </p:nvSpPr>
        <p:spPr>
          <a:xfrm>
            <a:off x="812800" y="3507742"/>
            <a:ext cx="1066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E36"/>
                </a:solidFill>
                <a:latin typeface="Noto Sans JP" pitchFamily="34" charset="0"/>
                <a:ea typeface="Noto Sans JP" pitchFamily="34" charset="-122"/>
                <a:cs typeface="Noto Sans JP" pitchFamily="34" charset="-120"/>
              </a:rPr>
              <a:t>p.018〜020</a:t>
            </a:r>
            <a:endParaRPr lang="en-US" sz="1200" dirty="0"/>
          </a:p>
        </p:txBody>
      </p:sp>
      <p:sp>
        <p:nvSpPr>
          <p:cNvPr id="12" name="Text 10"/>
          <p:cNvSpPr/>
          <p:nvPr/>
        </p:nvSpPr>
        <p:spPr>
          <a:xfrm>
            <a:off x="2133600" y="3426458"/>
            <a:ext cx="6444518" cy="349250"/>
          </a:xfrm>
          <a:prstGeom prst="rect">
            <a:avLst/>
          </a:prstGeom>
          <a:noFill/>
          <a:ln/>
        </p:spPr>
        <p:txBody>
          <a:bodyPr wrap="square" lIns="0" tIns="0" rIns="0" bIns="0" rtlCol="0" anchor="t">
            <a:normAutofit/>
          </a:bodyPr>
          <a:lstStyle/>
          <a:p>
            <a:pPr algn="l" indent="0" marL="0">
              <a:lnSpc>
                <a:spcPts val="2550"/>
              </a:lnSpc>
              <a:buNone/>
            </a:pPr>
            <a:r>
              <a:rPr lang="en-US" sz="1700" dirty="0">
                <a:solidFill>
                  <a:srgbClr val="1F2A37"/>
                </a:solidFill>
                <a:latin typeface="Noto Sans JP" pitchFamily="34" charset="0"/>
                <a:ea typeface="Noto Sans JP" pitchFamily="34" charset="-122"/>
                <a:cs typeface="Noto Sans JP" pitchFamily="34" charset="-120"/>
              </a:rPr>
              <a:t>各工程で作られるものを何と呼ぶか。それは何のために作るのか</a:t>
            </a:r>
            <a:endParaRPr lang="en-US" sz="1700" dirty="0"/>
          </a:p>
        </p:txBody>
      </p:sp>
      <p:sp>
        <p:nvSpPr>
          <p:cNvPr id="13" name="Shape 11"/>
          <p:cNvSpPr/>
          <p:nvPr/>
        </p:nvSpPr>
        <p:spPr>
          <a:xfrm>
            <a:off x="812800" y="3931283"/>
            <a:ext cx="10566400" cy="0"/>
          </a:xfrm>
          <a:prstGeom prst="line">
            <a:avLst/>
          </a:prstGeom>
          <a:noFill/>
          <a:ln w="6350">
            <a:solidFill>
              <a:srgbClr val="D6D3CC"/>
            </a:solidFill>
            <a:prstDash val="solid"/>
          </a:ln>
        </p:spPr>
      </p:sp>
      <p:sp>
        <p:nvSpPr>
          <p:cNvPr id="14" name="Shape 12"/>
          <p:cNvSpPr/>
          <p:nvPr/>
        </p:nvSpPr>
        <p:spPr>
          <a:xfrm>
            <a:off x="812800" y="4614543"/>
            <a:ext cx="10566400" cy="0"/>
          </a:xfrm>
          <a:prstGeom prst="line">
            <a:avLst/>
          </a:prstGeom>
          <a:noFill/>
          <a:ln w="6350">
            <a:solidFill>
              <a:srgbClr val="D6D3CC"/>
            </a:solidFill>
            <a:prstDash val="solid"/>
          </a:ln>
        </p:spPr>
      </p:sp>
      <p:sp>
        <p:nvSpPr>
          <p:cNvPr id="15" name="Text 13"/>
          <p:cNvSpPr/>
          <p:nvPr/>
        </p:nvSpPr>
        <p:spPr>
          <a:xfrm>
            <a:off x="812800" y="4192277"/>
            <a:ext cx="1066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E36"/>
                </a:solidFill>
                <a:latin typeface="Noto Sans JP" pitchFamily="34" charset="0"/>
                <a:ea typeface="Noto Sans JP" pitchFamily="34" charset="-122"/>
                <a:cs typeface="Noto Sans JP" pitchFamily="34" charset="-120"/>
              </a:rPr>
              <a:t>p.021〜</a:t>
            </a:r>
            <a:endParaRPr lang="en-US" sz="1200" dirty="0"/>
          </a:p>
        </p:txBody>
      </p:sp>
      <p:sp>
        <p:nvSpPr>
          <p:cNvPr id="16" name="Text 14"/>
          <p:cNvSpPr/>
          <p:nvPr/>
        </p:nvSpPr>
        <p:spPr>
          <a:xfrm>
            <a:off x="2133600" y="4110992"/>
            <a:ext cx="6880361" cy="349250"/>
          </a:xfrm>
          <a:prstGeom prst="rect">
            <a:avLst/>
          </a:prstGeom>
          <a:noFill/>
          <a:ln/>
        </p:spPr>
        <p:txBody>
          <a:bodyPr wrap="square" lIns="0" tIns="0" rIns="0" bIns="0" rtlCol="0" anchor="t">
            <a:normAutofit/>
          </a:bodyPr>
          <a:lstStyle/>
          <a:p>
            <a:pPr algn="l" indent="0" marL="0">
              <a:lnSpc>
                <a:spcPts val="2550"/>
              </a:lnSpc>
              <a:buNone/>
            </a:pPr>
            <a:r>
              <a:rPr lang="en-US" sz="1700" dirty="0">
                <a:solidFill>
                  <a:srgbClr val="1F2A37"/>
                </a:solidFill>
                <a:latin typeface="Noto Sans JP" pitchFamily="34" charset="0"/>
                <a:ea typeface="Noto Sans JP" pitchFamily="34" charset="-122"/>
                <a:cs typeface="Noto Sans JP" pitchFamily="34" charset="-120"/>
              </a:rPr>
              <a:t>ウォーターフォール型は、どのように工程を進めるのか（予習範囲）</a:t>
            </a:r>
            <a:endParaRPr lang="en-US" sz="170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JP" pitchFamily="34" charset="0"/>
                <a:ea typeface="Noto Sans JP" pitchFamily="34" charset="-122"/>
                <a:cs typeface="Noto Sans JP" pitchFamily="34" charset="-120"/>
              </a:rPr>
              <a:t>選択式と記述式。今日のスライドと教科書の該当ページを見直しておこう。　｜　17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第1回 ソフトウェア開発とは何か</dc:title>
  <dc:subject>PptxGenJS Presentation</dc:subject>
  <dc:creator>PptxGenJS</dc:creator>
  <cp:lastModifiedBy>PptxGenJS</cp:lastModifiedBy>
  <cp:revision>1</cp:revision>
  <dcterms:created xsi:type="dcterms:W3CDTF">2026-09-29T00:56:52Z</dcterms:created>
  <dcterms:modified xsi:type="dcterms:W3CDTF">2026-09-29T00:56:52Z</dcterms:modified>
</cp:coreProperties>
</file>